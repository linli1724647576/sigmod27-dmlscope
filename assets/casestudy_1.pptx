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12192000" cy="14057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324" y="244"/>
      </p:cViewPr>
      <p:guideLst>
        <p:guide orient="horz" pos="44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00585"/>
            <a:ext cx="10363200" cy="489402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383344"/>
            <a:ext cx="9144000" cy="339392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179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54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04570"/>
            <a:ext cx="10515600" cy="584745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407340"/>
            <a:ext cx="10515600" cy="30750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65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742109"/>
            <a:ext cx="5181600" cy="89192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742109"/>
            <a:ext cx="5181600" cy="89192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98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48425"/>
            <a:ext cx="10515600" cy="271709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445995"/>
            <a:ext cx="5157787" cy="168882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134824"/>
            <a:ext cx="5157787" cy="75525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445995"/>
            <a:ext cx="5183188" cy="168882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134824"/>
            <a:ext cx="5183188" cy="75525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27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75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73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37154"/>
            <a:ext cx="3932237" cy="32800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23996"/>
            <a:ext cx="6172200" cy="998980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217194"/>
            <a:ext cx="3932237" cy="781287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7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37154"/>
            <a:ext cx="3932237" cy="32800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23996"/>
            <a:ext cx="6172200" cy="998980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217194"/>
            <a:ext cx="3932237" cy="781287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15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1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48422"/>
            <a:ext cx="2628900" cy="1191292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48422"/>
            <a:ext cx="7734300" cy="1191292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38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48425"/>
            <a:ext cx="10515600" cy="2717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742109"/>
            <a:ext cx="10515600" cy="891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029050"/>
            <a:ext cx="274320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029050"/>
            <a:ext cx="411480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029050"/>
            <a:ext cx="274320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33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183C3C-68AB-CC91-77F9-A13AA545537C}"/>
              </a:ext>
            </a:extLst>
          </p:cNvPr>
          <p:cNvSpPr txBox="1"/>
          <p:nvPr/>
        </p:nvSpPr>
        <p:spPr>
          <a:xfrm>
            <a:off x="1265686" y="463068"/>
            <a:ext cx="9269095" cy="1941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t1(k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TIMESTAMP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t2(k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TIMESTAMP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t3(k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TIMESTAMP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t1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TIMESTAMP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'2001-01-01 00:00:00');</a:t>
            </a:r>
          </a:p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t2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TIMESTAMP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'2001-01-01 00:00:00')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D7A91B-4F67-FD84-1F45-49152AA0B32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65686" y="2489988"/>
            <a:ext cx="6088447" cy="1760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2000" kern="150" spc="-1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--Original DML</a:t>
            </a:r>
            <a:endParaRPr lang="en-US" altLang="zh-CN" sz="2000" kern="150" spc="-100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INSERT INTO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t3 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SELECT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x.k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FROM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t1 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LEFT JOIN LATERAL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( </a:t>
            </a:r>
          </a:p>
          <a:p>
            <a:pPr algn="l">
              <a:lnSpc>
                <a:spcPct val="110000"/>
              </a:lnSpc>
            </a:pP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	SELECT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t2.k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FROM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t2 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WHERE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False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)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AS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x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ON TRUE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WHERE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x.k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IS NOT NULL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6441AA-E1E7-DEDC-E1E0-B00D69A38C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94566" y="4492986"/>
            <a:ext cx="6555807" cy="1760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2000" kern="150" spc="-1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--Mutated DML</a:t>
            </a:r>
            <a:endParaRPr lang="en-US" altLang="zh-CN" sz="2000" kern="150" spc="-100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INSERT INTO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t3 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SELECT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x.k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FROM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t1 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LEFT JOIN LATERAL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	SELECT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t2.k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FROM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t2 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WHERE</a:t>
            </a:r>
            <a:r>
              <a:rPr lang="en-US" altLang="zh-CN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t2.k &gt; t1.k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)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AS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x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ON TRUE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WHERE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x.k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IS NOT NULL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E1F72B-F558-8D75-6FE2-41FB0E74059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435432" y="2838592"/>
            <a:ext cx="135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--result:</a:t>
            </a:r>
            <a:endParaRPr lang="zh-CN" altLang="en-US" sz="280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1DBF9D9-BCA0-3E08-28D6-EC5FAE1E6C75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2851205"/>
              </p:ext>
            </p:extLst>
          </p:nvPr>
        </p:nvGraphicFramePr>
        <p:xfrm>
          <a:off x="9043820" y="2972648"/>
          <a:ext cx="1126490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t3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k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altLang="zh-CN" sz="2000" b="1" i="1" strike="sngStrike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9582232-D5BB-73E4-A8EC-33005B62271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01439" y="4304069"/>
            <a:ext cx="135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endParaRPr lang="zh-CN" altLang="en-US" sz="2800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A4EA34D-88A5-9A4F-DA69-E5EB211D9AAC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98652078"/>
              </p:ext>
            </p:extLst>
          </p:nvPr>
        </p:nvGraphicFramePr>
        <p:xfrm>
          <a:off x="9028877" y="4398833"/>
          <a:ext cx="1126490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t3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k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altLang="zh-CN" sz="2000" b="1" i="1" strike="sngStrike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92C8BFAD-C670-8F66-D333-5F753089955F}"/>
              </a:ext>
            </a:extLst>
          </p:cNvPr>
          <p:cNvSpPr txBox="1"/>
          <p:nvPr/>
        </p:nvSpPr>
        <p:spPr>
          <a:xfrm>
            <a:off x="7641469" y="4737763"/>
            <a:ext cx="1131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(expected)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6DA61B-2B09-A600-593B-EFF8CE1E9E45}"/>
              </a:ext>
            </a:extLst>
          </p:cNvPr>
          <p:cNvSpPr txBox="1"/>
          <p:nvPr/>
        </p:nvSpPr>
        <p:spPr>
          <a:xfrm>
            <a:off x="7420489" y="5393009"/>
            <a:ext cx="1333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endParaRPr lang="zh-CN" altLang="en-US" sz="2800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FD8B61E-25A4-E908-2B92-30EC9860678B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004474570"/>
              </p:ext>
            </p:extLst>
          </p:nvPr>
        </p:nvGraphicFramePr>
        <p:xfrm>
          <a:off x="9043820" y="5522867"/>
          <a:ext cx="1572386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t3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k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D39A062F-708B-66F3-C123-DEC21D8989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8711" y="5716520"/>
            <a:ext cx="490220" cy="49022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504B15D-8996-B5BF-7760-C31C642D2FFA}"/>
              </a:ext>
            </a:extLst>
          </p:cNvPr>
          <p:cNvSpPr txBox="1"/>
          <p:nvPr/>
        </p:nvSpPr>
        <p:spPr>
          <a:xfrm>
            <a:off x="7632296" y="5914979"/>
            <a:ext cx="1080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(actual)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3048F4-32E3-C873-AEB3-E2814C156F63}"/>
              </a:ext>
            </a:extLst>
          </p:cNvPr>
          <p:cNvSpPr txBox="1"/>
          <p:nvPr/>
        </p:nvSpPr>
        <p:spPr>
          <a:xfrm>
            <a:off x="1150433" y="7301961"/>
            <a:ext cx="9499600" cy="4799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unique_ptr&lt;LogicalOperator&gt; FilterPushdown::PushdownFilter(unique_ptr&lt;LogicalOperator&gt; op) {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D_ASSERT(op-&gt;type ==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LogicalOperatorType::LOGICAL_FILTER);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auto &amp;filter = op-&gt;Cast&lt;LogicalFilter&gt;();</a:t>
            </a:r>
          </a:p>
          <a:p>
            <a:pPr marL="457200" lvl="1" indent="457200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......</a:t>
            </a:r>
          </a:p>
          <a:p>
            <a:pPr marL="457200" lvl="1" indent="457200"/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for (auto &amp;expression : filter.expressions) {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	auto side = JoinSide::GetJoinSide(*expression, left_bindings, right_bindings);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	if (side != JoinSide::LEFT) {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		remain_expressions.push_back(std::move(expression));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		continue;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	}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	if (AddFilter(std::move(expression)) == FilterResult::UNSATISFIABLE) {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		return make_uniq&lt;LogicalEmptyResult&gt;(std::move(op));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	}</a:t>
            </a:r>
          </a:p>
          <a:p>
            <a:r>
              <a:rPr lang="en-US" altLang="zh-CN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	}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if (filter.HasProjectionMap()) {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return FinishPushdown(std::move(op));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}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F6FE1F-70F5-CFB3-F3FC-E59A29BBFEFB}"/>
              </a:ext>
            </a:extLst>
          </p:cNvPr>
          <p:cNvSpPr txBox="1"/>
          <p:nvPr/>
        </p:nvSpPr>
        <p:spPr>
          <a:xfrm>
            <a:off x="1194566" y="12811800"/>
            <a:ext cx="95634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/>
              <a:t>DuckDB Bug#21609: Incorrect Filter Pushdown in LEFT JOIN LATERAL Leading to Null Propagation Bug</a:t>
            </a:r>
            <a:endParaRPr lang="zh-CN" altLang="en-US" sz="2400" b="1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DCC0AF6-6515-1A3F-95E2-F7E589D2A126}"/>
              </a:ext>
            </a:extLst>
          </p:cNvPr>
          <p:cNvSpPr txBox="1"/>
          <p:nvPr/>
        </p:nvSpPr>
        <p:spPr>
          <a:xfrm>
            <a:off x="2273863" y="6607954"/>
            <a:ext cx="8075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(a) Bug Manifestation: Spurious NULL Insertion under LEFT JOIN LATERAL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4CA04C3-9C0C-125A-8617-B49B914A0419}"/>
              </a:ext>
            </a:extLst>
          </p:cNvPr>
          <p:cNvSpPr txBox="1"/>
          <p:nvPr/>
        </p:nvSpPr>
        <p:spPr>
          <a:xfrm>
            <a:off x="3267834" y="12246572"/>
            <a:ext cx="6790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(b) Fix: Outer-Join-Aware Filter Pushdown Strategy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2406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9,&quot;left&quot;:67.5,&quot;top&quot;:182.3,&quot;width&quot;:775.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9,&quot;left&quot;:67.5,&quot;top&quot;:182.3,&quot;width&quot;:775.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9,&quot;left&quot;:67.5,&quot;top&quot;:182.3,&quot;width&quot;:775.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61"/>
  <p:tag name="TABLE_ENDDRAG_RECT" val="449*261*155*6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9,&quot;left&quot;:67.5,&quot;top&quot;:182.3,&quot;width&quot;:775.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61"/>
  <p:tag name="TABLE_ENDDRAG_RECT" val="449*261*155*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12*85"/>
  <p:tag name="TABLE_ENDDRAG_RECT" val="455*473*213*85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383</TotalTime>
  <Words>354</Words>
  <Application>Microsoft Office PowerPoint</Application>
  <PresentationFormat>自定义</PresentationFormat>
  <Paragraphs>45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12</cp:revision>
  <dcterms:created xsi:type="dcterms:W3CDTF">2023-08-09T12:44:00Z</dcterms:created>
  <dcterms:modified xsi:type="dcterms:W3CDTF">2026-04-10T13:46:24Z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