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0799445" cy="143998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61" userDrawn="1">
          <p15:clr>
            <a:srgbClr val="A4A3A4"/>
          </p15:clr>
        </p15:guide>
        <p15:guide id="2" pos="34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44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3448" y="828"/>
      </p:cViewPr>
      <p:guideLst>
        <p:guide orient="horz" pos="4561"/>
        <p:guide pos="34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70" y="2357056"/>
            <a:ext cx="9180782" cy="5014163"/>
          </a:xfrm>
        </p:spPr>
        <p:txBody>
          <a:bodyPr anchor="b"/>
          <a:lstStyle>
            <a:lvl1pPr algn="ctr">
              <a:defRPr sz="70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16" y="7564583"/>
            <a:ext cx="8100690" cy="3477242"/>
          </a:xfrm>
        </p:spPr>
        <p:txBody>
          <a:bodyPr/>
          <a:lstStyle>
            <a:lvl1pPr marL="0" indent="0" algn="ctr">
              <a:buNone/>
              <a:defRPr sz="2840"/>
            </a:lvl1pPr>
            <a:lvl2pPr marL="539750" indent="0" algn="ctr">
              <a:buNone/>
              <a:defRPr sz="2365"/>
            </a:lvl2pPr>
            <a:lvl3pPr marL="1079500" indent="0" algn="ctr">
              <a:buNone/>
              <a:defRPr sz="2130"/>
            </a:lvl3pPr>
            <a:lvl4pPr marL="1619885" indent="0" algn="ctr">
              <a:buNone/>
              <a:defRPr sz="1885"/>
            </a:lvl4pPr>
            <a:lvl5pPr marL="2160905" indent="0" algn="ctr">
              <a:buNone/>
              <a:defRPr sz="1885"/>
            </a:lvl5pPr>
            <a:lvl6pPr marL="2700655" indent="0" algn="ctr">
              <a:buNone/>
              <a:defRPr sz="1885"/>
            </a:lvl6pPr>
            <a:lvl7pPr marL="3240405" indent="0" algn="ctr">
              <a:buNone/>
              <a:defRPr sz="1885"/>
            </a:lvl7pPr>
            <a:lvl8pPr marL="3780155" indent="0" algn="ctr">
              <a:buNone/>
              <a:defRPr sz="1885"/>
            </a:lvl8pPr>
            <a:lvl9pPr marL="4320540" indent="0" algn="ctr">
              <a:buNone/>
              <a:defRPr sz="188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939" y="3590599"/>
            <a:ext cx="9315794" cy="5990991"/>
          </a:xfrm>
        </p:spPr>
        <p:txBody>
          <a:bodyPr anchor="b"/>
          <a:lstStyle>
            <a:lvl1pPr>
              <a:defRPr sz="70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939" y="9638265"/>
            <a:ext cx="9315794" cy="3150521"/>
          </a:xfrm>
        </p:spPr>
        <p:txBody>
          <a:bodyPr/>
          <a:lstStyle>
            <a:lvl1pPr marL="0" indent="0">
              <a:buNone/>
              <a:defRPr sz="2840">
                <a:solidFill>
                  <a:schemeClr val="tx1"/>
                </a:solidFill>
              </a:defRPr>
            </a:lvl1pPr>
            <a:lvl2pPr marL="539750" indent="0">
              <a:buNone/>
              <a:defRPr sz="2365">
                <a:solidFill>
                  <a:schemeClr val="tx1">
                    <a:tint val="75000"/>
                  </a:schemeClr>
                </a:solidFill>
              </a:defRPr>
            </a:lvl2pPr>
            <a:lvl3pPr marL="1079500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3pPr>
            <a:lvl4pPr marL="1619885" indent="0">
              <a:buNone/>
              <a:defRPr sz="1885">
                <a:solidFill>
                  <a:schemeClr val="tx1">
                    <a:tint val="75000"/>
                  </a:schemeClr>
                </a:solidFill>
              </a:defRPr>
            </a:lvl4pPr>
            <a:lvl5pPr marL="2160905" indent="0">
              <a:buNone/>
              <a:defRPr sz="1885">
                <a:solidFill>
                  <a:schemeClr val="tx1">
                    <a:tint val="75000"/>
                  </a:schemeClr>
                </a:solidFill>
              </a:defRPr>
            </a:lvl5pPr>
            <a:lvl6pPr marL="2700655" indent="0">
              <a:buNone/>
              <a:defRPr sz="1885">
                <a:solidFill>
                  <a:schemeClr val="tx1">
                    <a:tint val="75000"/>
                  </a:schemeClr>
                </a:solidFill>
              </a:defRPr>
            </a:lvl6pPr>
            <a:lvl7pPr marL="3240405" indent="0">
              <a:buNone/>
              <a:defRPr sz="1885">
                <a:solidFill>
                  <a:schemeClr val="tx1">
                    <a:tint val="75000"/>
                  </a:schemeClr>
                </a:solidFill>
              </a:defRPr>
            </a:lvl7pPr>
            <a:lvl8pPr marL="3780155" indent="0">
              <a:buNone/>
              <a:defRPr sz="1885">
                <a:solidFill>
                  <a:schemeClr val="tx1">
                    <a:tint val="75000"/>
                  </a:schemeClr>
                </a:solidFill>
              </a:defRPr>
            </a:lvl8pPr>
            <a:lvl9pPr marL="4320540" indent="0">
              <a:buNone/>
              <a:defRPr sz="18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562" y="3833966"/>
            <a:ext cx="4590392" cy="91381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966" y="3833966"/>
            <a:ext cx="4590392" cy="91381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969" y="766796"/>
            <a:ext cx="9315794" cy="27837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971" y="3530584"/>
            <a:ext cx="4569295" cy="1730286"/>
          </a:xfrm>
        </p:spPr>
        <p:txBody>
          <a:bodyPr anchor="b"/>
          <a:lstStyle>
            <a:lvl1pPr marL="0" indent="0">
              <a:buNone/>
              <a:defRPr sz="2840" b="1"/>
            </a:lvl1pPr>
            <a:lvl2pPr marL="539750" indent="0">
              <a:buNone/>
              <a:defRPr sz="2365" b="1"/>
            </a:lvl2pPr>
            <a:lvl3pPr marL="1079500" indent="0">
              <a:buNone/>
              <a:defRPr sz="2130" b="1"/>
            </a:lvl3pPr>
            <a:lvl4pPr marL="1619885" indent="0">
              <a:buNone/>
              <a:defRPr sz="1885" b="1"/>
            </a:lvl4pPr>
            <a:lvl5pPr marL="2160905" indent="0">
              <a:buNone/>
              <a:defRPr sz="1885" b="1"/>
            </a:lvl5pPr>
            <a:lvl6pPr marL="2700655" indent="0">
              <a:buNone/>
              <a:defRPr sz="1885" b="1"/>
            </a:lvl6pPr>
            <a:lvl7pPr marL="3240405" indent="0">
              <a:buNone/>
              <a:defRPr sz="1885" b="1"/>
            </a:lvl7pPr>
            <a:lvl8pPr marL="3780155" indent="0">
              <a:buNone/>
              <a:defRPr sz="1885" b="1"/>
            </a:lvl8pPr>
            <a:lvl9pPr marL="4320540" indent="0">
              <a:buNone/>
              <a:defRPr sz="188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971" y="5260870"/>
            <a:ext cx="4569295" cy="77379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966" y="3530584"/>
            <a:ext cx="4591797" cy="1730286"/>
          </a:xfrm>
        </p:spPr>
        <p:txBody>
          <a:bodyPr anchor="b"/>
          <a:lstStyle>
            <a:lvl1pPr marL="0" indent="0">
              <a:buNone/>
              <a:defRPr sz="2840" b="1"/>
            </a:lvl1pPr>
            <a:lvl2pPr marL="539750" indent="0">
              <a:buNone/>
              <a:defRPr sz="2365" b="1"/>
            </a:lvl2pPr>
            <a:lvl3pPr marL="1079500" indent="0">
              <a:buNone/>
              <a:defRPr sz="2130" b="1"/>
            </a:lvl3pPr>
            <a:lvl4pPr marL="1619885" indent="0">
              <a:buNone/>
              <a:defRPr sz="1885" b="1"/>
            </a:lvl4pPr>
            <a:lvl5pPr marL="2160905" indent="0">
              <a:buNone/>
              <a:defRPr sz="1885" b="1"/>
            </a:lvl5pPr>
            <a:lvl6pPr marL="2700655" indent="0">
              <a:buNone/>
              <a:defRPr sz="1885" b="1"/>
            </a:lvl6pPr>
            <a:lvl7pPr marL="3240405" indent="0">
              <a:buNone/>
              <a:defRPr sz="1885" b="1"/>
            </a:lvl7pPr>
            <a:lvl8pPr marL="3780155" indent="0">
              <a:buNone/>
              <a:defRPr sz="1885" b="1"/>
            </a:lvl8pPr>
            <a:lvl9pPr marL="4320540" indent="0">
              <a:buNone/>
              <a:defRPr sz="188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966" y="5260870"/>
            <a:ext cx="4591797" cy="77379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969" y="960157"/>
            <a:ext cx="3483578" cy="336055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797" y="2073681"/>
            <a:ext cx="5467966" cy="10235026"/>
          </a:xfrm>
        </p:spPr>
        <p:txBody>
          <a:bodyPr/>
          <a:lstStyle>
            <a:lvl1pPr>
              <a:defRPr sz="3780"/>
            </a:lvl1pPr>
            <a:lvl2pPr>
              <a:defRPr sz="3310"/>
            </a:lvl2pPr>
            <a:lvl3pPr>
              <a:defRPr sz="2840"/>
            </a:lvl3pPr>
            <a:lvl4pPr>
              <a:defRPr sz="2365"/>
            </a:lvl4pPr>
            <a:lvl5pPr>
              <a:defRPr sz="2365"/>
            </a:lvl5pPr>
            <a:lvl6pPr>
              <a:defRPr sz="2365"/>
            </a:lvl6pPr>
            <a:lvl7pPr>
              <a:defRPr sz="2365"/>
            </a:lvl7pPr>
            <a:lvl8pPr>
              <a:defRPr sz="2365"/>
            </a:lvl8pPr>
            <a:lvl9pPr>
              <a:defRPr sz="23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969" y="4320713"/>
            <a:ext cx="3483578" cy="8004658"/>
          </a:xfrm>
        </p:spPr>
        <p:txBody>
          <a:bodyPr/>
          <a:lstStyle>
            <a:lvl1pPr marL="0" indent="0">
              <a:buNone/>
              <a:defRPr sz="1885"/>
            </a:lvl1pPr>
            <a:lvl2pPr marL="539750" indent="0">
              <a:buNone/>
              <a:defRPr sz="1650"/>
            </a:lvl2pPr>
            <a:lvl3pPr marL="1079500" indent="0">
              <a:buNone/>
              <a:defRPr sz="1415"/>
            </a:lvl3pPr>
            <a:lvl4pPr marL="1619885" indent="0">
              <a:buNone/>
              <a:defRPr sz="1180"/>
            </a:lvl4pPr>
            <a:lvl5pPr marL="2160905" indent="0">
              <a:buNone/>
              <a:defRPr sz="1180"/>
            </a:lvl5pPr>
            <a:lvl6pPr marL="2700655" indent="0">
              <a:buNone/>
              <a:defRPr sz="1180"/>
            </a:lvl6pPr>
            <a:lvl7pPr marL="3240405" indent="0">
              <a:buNone/>
              <a:defRPr sz="1180"/>
            </a:lvl7pPr>
            <a:lvl8pPr marL="3780155" indent="0">
              <a:buNone/>
              <a:defRPr sz="1180"/>
            </a:lvl8pPr>
            <a:lvl9pPr marL="4320540" indent="0">
              <a:buNone/>
              <a:defRPr sz="118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969" y="960157"/>
            <a:ext cx="3483578" cy="336055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797" y="2073681"/>
            <a:ext cx="5467966" cy="10235026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750" indent="0">
              <a:buNone/>
              <a:defRPr sz="3310"/>
            </a:lvl2pPr>
            <a:lvl3pPr marL="1079500" indent="0">
              <a:buNone/>
              <a:defRPr sz="2840"/>
            </a:lvl3pPr>
            <a:lvl4pPr marL="1619885" indent="0">
              <a:buNone/>
              <a:defRPr sz="2365"/>
            </a:lvl4pPr>
            <a:lvl5pPr marL="2160905" indent="0">
              <a:buNone/>
              <a:defRPr sz="2365"/>
            </a:lvl5pPr>
            <a:lvl6pPr marL="2700655" indent="0">
              <a:buNone/>
              <a:defRPr sz="2365"/>
            </a:lvl6pPr>
            <a:lvl7pPr marL="3240405" indent="0">
              <a:buNone/>
              <a:defRPr sz="2365"/>
            </a:lvl7pPr>
            <a:lvl8pPr marL="3780155" indent="0">
              <a:buNone/>
              <a:defRPr sz="2365"/>
            </a:lvl8pPr>
            <a:lvl9pPr marL="4320540" indent="0">
              <a:buNone/>
              <a:defRPr sz="23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969" y="4320713"/>
            <a:ext cx="3483578" cy="8004658"/>
          </a:xfrm>
        </p:spPr>
        <p:txBody>
          <a:bodyPr/>
          <a:lstStyle>
            <a:lvl1pPr marL="0" indent="0">
              <a:buNone/>
              <a:defRPr sz="1885"/>
            </a:lvl1pPr>
            <a:lvl2pPr marL="539750" indent="0">
              <a:buNone/>
              <a:defRPr sz="1650"/>
            </a:lvl2pPr>
            <a:lvl3pPr marL="1079500" indent="0">
              <a:buNone/>
              <a:defRPr sz="1415"/>
            </a:lvl3pPr>
            <a:lvl4pPr marL="1619885" indent="0">
              <a:buNone/>
              <a:defRPr sz="1180"/>
            </a:lvl4pPr>
            <a:lvl5pPr marL="2160905" indent="0">
              <a:buNone/>
              <a:defRPr sz="1180"/>
            </a:lvl5pPr>
            <a:lvl6pPr marL="2700655" indent="0">
              <a:buNone/>
              <a:defRPr sz="1180"/>
            </a:lvl6pPr>
            <a:lvl7pPr marL="3240405" indent="0">
              <a:buNone/>
              <a:defRPr sz="1180"/>
            </a:lvl7pPr>
            <a:lvl8pPr marL="3780155" indent="0">
              <a:buNone/>
              <a:defRPr sz="1180"/>
            </a:lvl8pPr>
            <a:lvl9pPr marL="4320540" indent="0">
              <a:buNone/>
              <a:defRPr sz="118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9409" y="766792"/>
            <a:ext cx="2328949" cy="122053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564" y="766792"/>
            <a:ext cx="6851833" cy="1220535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564" y="766796"/>
            <a:ext cx="9315794" cy="2783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564" y="3833966"/>
            <a:ext cx="9315794" cy="9138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562" y="13348879"/>
            <a:ext cx="2430208" cy="766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806" y="13348879"/>
            <a:ext cx="3645310" cy="766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8150" y="13348879"/>
            <a:ext cx="2430208" cy="766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79500" rtl="0" eaLnBrk="1" latinLnBrk="0" hangingPunct="1">
        <a:lnSpc>
          <a:spcPct val="90000"/>
        </a:lnSpc>
        <a:spcBef>
          <a:spcPct val="0"/>
        </a:spcBef>
        <a:buNone/>
        <a:defRPr sz="5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510" indent="-270510" algn="l" defTabSz="1079500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3310" kern="1200">
          <a:solidFill>
            <a:schemeClr val="tx1"/>
          </a:solidFill>
          <a:latin typeface="+mn-lt"/>
          <a:ea typeface="+mn-ea"/>
          <a:cs typeface="+mn-cs"/>
        </a:defRPr>
      </a:lvl1pPr>
      <a:lvl2pPr marL="810260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840" kern="1200">
          <a:solidFill>
            <a:schemeClr val="tx1"/>
          </a:solidFill>
          <a:latin typeface="+mn-lt"/>
          <a:ea typeface="+mn-ea"/>
          <a:cs typeface="+mn-cs"/>
        </a:defRPr>
      </a:lvl2pPr>
      <a:lvl3pPr marL="1350645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3pPr>
      <a:lvl4pPr marL="1890395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30" kern="1200">
          <a:solidFill>
            <a:schemeClr val="tx1"/>
          </a:solidFill>
          <a:latin typeface="+mn-lt"/>
          <a:ea typeface="+mn-ea"/>
          <a:cs typeface="+mn-cs"/>
        </a:defRPr>
      </a:lvl4pPr>
      <a:lvl5pPr marL="2431415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30" kern="1200">
          <a:solidFill>
            <a:schemeClr val="tx1"/>
          </a:solidFill>
          <a:latin typeface="+mn-lt"/>
          <a:ea typeface="+mn-ea"/>
          <a:cs typeface="+mn-cs"/>
        </a:defRPr>
      </a:lvl5pPr>
      <a:lvl6pPr marL="2971165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30" kern="1200">
          <a:solidFill>
            <a:schemeClr val="tx1"/>
          </a:solidFill>
          <a:latin typeface="+mn-lt"/>
          <a:ea typeface="+mn-ea"/>
          <a:cs typeface="+mn-cs"/>
        </a:defRPr>
      </a:lvl6pPr>
      <a:lvl7pPr marL="3510915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30" kern="1200">
          <a:solidFill>
            <a:schemeClr val="tx1"/>
          </a:solidFill>
          <a:latin typeface="+mn-lt"/>
          <a:ea typeface="+mn-ea"/>
          <a:cs typeface="+mn-cs"/>
        </a:defRPr>
      </a:lvl7pPr>
      <a:lvl8pPr marL="4051300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30" kern="1200">
          <a:solidFill>
            <a:schemeClr val="tx1"/>
          </a:solidFill>
          <a:latin typeface="+mn-lt"/>
          <a:ea typeface="+mn-ea"/>
          <a:cs typeface="+mn-cs"/>
        </a:defRPr>
      </a:lvl8pPr>
      <a:lvl9pPr marL="4591050" indent="-270510" algn="l" defTabSz="107950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2pPr>
      <a:lvl3pPr marL="1079500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3pPr>
      <a:lvl4pPr marL="1619885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4pPr>
      <a:lvl5pPr marL="2160905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5pPr>
      <a:lvl6pPr marL="2700655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6pPr>
      <a:lvl7pPr marL="3240405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8pPr>
      <a:lvl9pPr marL="4320540" algn="l" defTabSz="1079500" rtl="0" eaLnBrk="1" latinLnBrk="0" hangingPunct="1">
        <a:defRPr sz="21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3430" y="2944080"/>
            <a:ext cx="5662136" cy="1560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t1 (c1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INT,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c4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INT,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c5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DATE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t2 (c15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DOUBLE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t1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(1, 30,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DATE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'2019-02-16');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t2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(531.0);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endParaRPr lang="en-US" altLang="zh-CN" sz="2035" kern="150" spc="-48">
              <a:latin typeface="Arial(正文)" charset="0"/>
              <a:ea typeface="微软雅黑" panose="020B0503020204020204" charset="-122"/>
              <a:cs typeface="Arial(正文)" charset="0"/>
            </a:endParaRPr>
          </a:p>
          <a:p>
            <a:pPr algn="l">
              <a:lnSpc>
                <a:spcPct val="110000"/>
              </a:lnSpc>
            </a:pPr>
            <a:endParaRPr lang="zh-CN" altLang="en-US" sz="2035" kern="150" spc="-48">
              <a:latin typeface="Arial(正文)" charset="0"/>
              <a:ea typeface="微软雅黑" panose="020B0503020204020204" charset="-122"/>
              <a:cs typeface="Arial(正文)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3419" y="4668648"/>
            <a:ext cx="5348579" cy="250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2035" kern="150" spc="-48">
                <a:highlight>
                  <a:srgbClr val="FFFF00"/>
                </a:highligh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-- Original DML</a:t>
            </a:r>
            <a:endParaRPr lang="en-US" altLang="zh-CN" sz="2035" kern="150" spc="-48">
              <a:highlight>
                <a:srgbClr val="FFFF00"/>
              </a:highligh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UPDATE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t1</a:t>
            </a:r>
            <a:endParaRPr lang="en-US" altLang="zh-CN" sz="2035" kern="150" spc="-48">
              <a:highlight>
                <a:srgbClr val="FFFF00"/>
              </a:highligh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SET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c5 =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DATE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'2000-10-03'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WHERE  NOT</a:t>
            </a: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c4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IS NULL</a:t>
            </a:r>
            <a:endParaRPr lang="en-US" altLang="zh-CN" sz="2035" kern="150" spc="-48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AND</a:t>
            </a: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035" kern="150" spc="-48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(c4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IN</a:t>
            </a: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SELECT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c15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FROM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t2)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035" kern="150" spc="-48">
              <a:solidFill>
                <a:schemeClr val="accent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      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AND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 = 0);</a:t>
            </a:r>
            <a:endParaRPr lang="en-US" altLang="zh-CN" sz="2035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3483" y="7343655"/>
            <a:ext cx="5171766" cy="3132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183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-- Mutated DML</a:t>
            </a:r>
            <a:endParaRPr lang="en-US" altLang="zh-CN" sz="183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UPDATE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t1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SET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c5 =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DATE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'2000-10-03'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WHERE</a:t>
            </a:r>
            <a:r>
              <a:rPr lang="en-US" altLang="zh-CN" sz="2035" b="1" i="1" kern="150" spc="-48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b="1" i="1" kern="150" spc="-48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(1 = 0) </a:t>
            </a:r>
            <a:endParaRPr lang="en-US" altLang="zh-CN" sz="2035" kern="150" spc="-48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035" b="1" i="1" kern="150" spc="-4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b="1" i="1" kern="150" spc="-48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OR (</a:t>
            </a:r>
            <a:endParaRPr lang="en-US" altLang="zh-CN" sz="2035" kern="150" spc="-48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c4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IS NULL</a:t>
            </a:r>
            <a:endParaRPr lang="en-US" altLang="zh-CN" sz="2035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AND </a:t>
            </a:r>
            <a:endParaRPr lang="en-US" altLang="zh-CN" sz="2035" kern="150" spc="-48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(c4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IN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SELECT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c15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FROM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t2)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035" kern="150" spc="-48">
              <a:solidFill>
                <a:schemeClr val="accent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217805">
              <a:lnSpc>
                <a:spcPct val="110000"/>
              </a:lnSpc>
            </a:pP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AND</a:t>
            </a:r>
            <a:r>
              <a:rPr lang="en-US" altLang="zh-CN" sz="2035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 = 0)</a:t>
            </a:r>
            <a:r>
              <a:rPr lang="en-US" altLang="zh-CN" sz="2035" b="1" i="1" kern="150" spc="-48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)</a:t>
            </a:r>
            <a:r>
              <a:rPr lang="en-US" altLang="zh-CN" sz="2035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;</a:t>
            </a:r>
            <a:endParaRPr lang="en-US" altLang="zh-CN" sz="2035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 descr="2768bf4f39f81dfb36eaad62df1932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8885" y="10053187"/>
            <a:ext cx="448307" cy="448307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6129500" y="3010162"/>
          <a:ext cx="3559810" cy="81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35"/>
                <a:gridCol w="678815"/>
                <a:gridCol w="680085"/>
                <a:gridCol w="1552575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t1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c4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c5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500"/>
                    </a:p>
                  </a:txBody>
                  <a:tcPr marL="93288" marR="93288" marT="46644" marB="466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  <a:endParaRPr lang="en-US" altLang="zh-CN" sz="214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6135970" y="4036991"/>
          <a:ext cx="1689735" cy="81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490"/>
                <a:gridCol w="1071245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t2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c15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500"/>
                    </a:p>
                  </a:txBody>
                  <a:tcPr marL="93288" marR="93288" marT="46644" marB="466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531.0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594754" y="5543233"/>
            <a:ext cx="1521782" cy="65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3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r>
              <a:rPr lang="zh-CN" altLang="en-US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original</a:t>
            </a:r>
            <a:r>
              <a:rPr lang="zh-CN" altLang="en-US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1830"/>
          </a:p>
        </p:txBody>
      </p:sp>
      <p:graphicFrame>
        <p:nvGraphicFramePr>
          <p:cNvPr id="18" name="表格 17"/>
          <p:cNvGraphicFramePr/>
          <p:nvPr>
            <p:custDataLst>
              <p:tags r:id="rId4"/>
            </p:custDataLst>
          </p:nvPr>
        </p:nvGraphicFramePr>
        <p:xfrm>
          <a:off x="6135980" y="5596808"/>
          <a:ext cx="3559810" cy="81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35"/>
                <a:gridCol w="678815"/>
                <a:gridCol w="680085"/>
                <a:gridCol w="1552575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t1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c4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c5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500"/>
                    </a:p>
                  </a:txBody>
                  <a:tcPr marL="93288" marR="93288" marT="46644" marB="466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  <a:endParaRPr lang="en-US" altLang="zh-CN" sz="214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5"/>
            </p:custDataLst>
          </p:nvPr>
        </p:nvGraphicFramePr>
        <p:xfrm>
          <a:off x="6116544" y="7997893"/>
          <a:ext cx="3559810" cy="81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35"/>
                <a:gridCol w="678815"/>
                <a:gridCol w="680085"/>
                <a:gridCol w="1552575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t1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c4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c5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500"/>
                    </a:p>
                  </a:txBody>
                  <a:tcPr marL="93288" marR="93288" marT="46644" marB="466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  <a:endParaRPr lang="en-US" altLang="zh-CN" sz="214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>
            <p:custDataLst>
              <p:tags r:id="rId6"/>
            </p:custDataLst>
          </p:nvPr>
        </p:nvGraphicFramePr>
        <p:xfrm>
          <a:off x="6135972" y="9701400"/>
          <a:ext cx="3559810" cy="81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35"/>
                <a:gridCol w="678815"/>
                <a:gridCol w="680085"/>
                <a:gridCol w="1552575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t1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c1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c4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500"/>
                        <a:t>c5</a:t>
                      </a:r>
                      <a:endParaRPr lang="en-US" altLang="zh-CN" sz="1500"/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500"/>
                    </a:p>
                  </a:txBody>
                  <a:tcPr marL="93288" marR="93288" marT="46644" marB="4664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14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14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2000-10-03</a:t>
                      </a:r>
                      <a:endParaRPr lang="en-US" altLang="zh-CN" sz="214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3288" marR="93288" marT="46644" marB="4664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4632982" y="7971991"/>
            <a:ext cx="1502990" cy="65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3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endParaRPr lang="en-US" altLang="zh-CN" sz="183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expected</a:t>
            </a:r>
            <a:r>
              <a:rPr lang="zh-CN" altLang="en-US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1830"/>
          </a:p>
        </p:txBody>
      </p:sp>
      <p:sp>
        <p:nvSpPr>
          <p:cNvPr id="23" name="文本框 22"/>
          <p:cNvSpPr txBox="1"/>
          <p:nvPr/>
        </p:nvSpPr>
        <p:spPr>
          <a:xfrm>
            <a:off x="4763519" y="9615212"/>
            <a:ext cx="1241265" cy="65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30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endParaRPr lang="en-US" altLang="zh-CN" sz="183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actual</a:t>
            </a:r>
            <a:r>
              <a:rPr lang="zh-CN" altLang="en-US" sz="183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1830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30464" y="10864182"/>
            <a:ext cx="8466050" cy="107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40" b="1"/>
              <a:t>MonetDB Bug#7888: Incorrect Predicate Simplification under OR Leading to Wrong UPDATE Execution</a:t>
            </a:r>
            <a:endParaRPr lang="en-US" altLang="zh-CN" sz="2140" b="1"/>
          </a:p>
          <a:p>
            <a:endParaRPr lang="zh-CN" altLang="en-US" sz="2140" b="1"/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806450" y="262255"/>
            <a:ext cx="5549900" cy="1529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t1 (c1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INT,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c4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INT,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c5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t2 (c15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DOUBLE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t1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(1, 30,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'2019-02-16');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t2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(531.0);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endParaRPr lang="en-US" altLang="zh-CN" sz="2000" kern="150" spc="-100">
              <a:latin typeface="Arial(正文)" charset="0"/>
              <a:ea typeface="微软雅黑" panose="020B0503020204020204" charset="-122"/>
              <a:cs typeface="Arial(正文)" charset="0"/>
            </a:endParaRPr>
          </a:p>
          <a:p>
            <a:pPr algn="l">
              <a:lnSpc>
                <a:spcPct val="110000"/>
              </a:lnSpc>
            </a:pPr>
            <a:endParaRPr lang="zh-CN" altLang="en-US" sz="2000" kern="150" spc="-100">
              <a:latin typeface="Arial(正文)" charset="0"/>
              <a:ea typeface="微软雅黑" panose="020B0503020204020204" charset="-122"/>
              <a:cs typeface="Arial(正文)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6450" y="1952625"/>
            <a:ext cx="5242560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2000" kern="150" spc="-10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-- Original DML</a:t>
            </a:r>
            <a:endParaRPr lang="en-US" altLang="zh-CN" sz="2000" kern="150" spc="-10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UPDATE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t1</a:t>
            </a:r>
            <a:endParaRPr lang="en-US" altLang="zh-CN" sz="2000" kern="150" spc="-100">
              <a:highlight>
                <a:srgbClr val="FFFF00"/>
              </a:highligh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SET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c5 =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DATE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'2000-10-03'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WHERE  NOT</a:t>
            </a: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c4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IS NULL</a:t>
            </a:r>
            <a:endParaRPr lang="en-US" altLang="zh-CN" sz="2000" kern="150" spc="-10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AND</a:t>
            </a: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000" kern="150" spc="-10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(c4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IN</a:t>
            </a: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SELECT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c15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FROM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t2)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000" kern="150" spc="-100">
              <a:solidFill>
                <a:schemeClr val="accent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      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AND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 = 0);</a:t>
            </a:r>
            <a:endParaRPr lang="en-US" altLang="zh-CN" sz="2000" b="1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6500" y="4574623"/>
            <a:ext cx="5069250" cy="3076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18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-- Mutated DML</a:t>
            </a:r>
            <a:endParaRPr lang="en-US" altLang="zh-CN" sz="180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UPDATE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t1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SET</a:t>
            </a:r>
            <a:r>
              <a:rPr lang="en-US" altLang="zh-CN" sz="2000" kern="150" spc="-1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c5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DATE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'2000-10-03'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WHERE</a:t>
            </a:r>
            <a:r>
              <a:rPr lang="en-US" altLang="zh-CN" sz="2000" b="1" i="1" kern="150" spc="-1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 i="1" kern="150" spc="-1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(1 = 0) </a:t>
            </a:r>
            <a:endParaRPr lang="en-US" altLang="zh-CN" sz="2000" kern="150" spc="-1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000" b="1" i="1" kern="150" spc="-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 i="1" kern="150" spc="-1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OR (</a:t>
            </a:r>
            <a:endParaRPr lang="en-US" altLang="zh-CN" sz="2000" kern="150" spc="-1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c4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IS NULL</a:t>
            </a:r>
            <a:endParaRPr lang="en-US" altLang="zh-CN" sz="2000" kern="150" spc="-1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AND </a:t>
            </a:r>
            <a:endParaRPr lang="en-US" altLang="zh-CN" sz="2000" kern="150" spc="-10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(c4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IN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SELECT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c15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FROM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t2)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000" kern="150" spc="-100">
              <a:solidFill>
                <a:schemeClr val="accent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457200" algn="l">
              <a:lnSpc>
                <a:spcPct val="110000"/>
              </a:lnSpc>
            </a:pP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AND</a:t>
            </a:r>
            <a:r>
              <a:rPr lang="en-US" altLang="zh-CN" sz="2000" kern="150" spc="-1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 = 0)</a:t>
            </a:r>
            <a:r>
              <a:rPr lang="en-US" altLang="zh-CN" sz="2000" b="1" i="1" kern="150" spc="-1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)</a:t>
            </a:r>
            <a:r>
              <a:rPr lang="en-US" altLang="zh-CN" sz="2000" kern="150" spc="-1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图片 12" descr="2768bf4f39f81dfb36eaad62df1932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1910" y="7364730"/>
            <a:ext cx="439420" cy="439420"/>
          </a:xfrm>
          <a:prstGeom prst="rect">
            <a:avLst/>
          </a:prstGeom>
        </p:spPr>
      </p:pic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6448425" y="327025"/>
          <a:ext cx="3489960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70"/>
                <a:gridCol w="665480"/>
                <a:gridCol w="665480"/>
                <a:gridCol w="1522730"/>
              </a:tblGrid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t1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c4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c5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  <a:endParaRPr lang="en-US" altLang="zh-C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3"/>
            </p:custDataLst>
          </p:nvPr>
        </p:nvGraphicFramePr>
        <p:xfrm>
          <a:off x="6454775" y="1333500"/>
          <a:ext cx="1657985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425"/>
                <a:gridCol w="1051560"/>
              </a:tblGrid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t2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c15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531.0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944110" y="2809875"/>
            <a:ext cx="1491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r>
              <a:rPr lang="zh-CN" alt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original</a:t>
            </a:r>
            <a:r>
              <a:rPr lang="zh-CN" alt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4"/>
            </p:custDataLst>
          </p:nvPr>
        </p:nvGraphicFramePr>
        <p:xfrm>
          <a:off x="6454775" y="2740025"/>
          <a:ext cx="3489960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70"/>
                <a:gridCol w="665480"/>
                <a:gridCol w="665480"/>
                <a:gridCol w="1522730"/>
              </a:tblGrid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t1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c4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c5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  <a:endParaRPr lang="en-US" altLang="zh-C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/>
          <p:nvPr>
            <p:custDataLst>
              <p:tags r:id="rId5"/>
            </p:custDataLst>
          </p:nvPr>
        </p:nvGraphicFramePr>
        <p:xfrm>
          <a:off x="6435725" y="5215890"/>
          <a:ext cx="3489960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70"/>
                <a:gridCol w="665480"/>
                <a:gridCol w="665480"/>
                <a:gridCol w="1522730"/>
              </a:tblGrid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t1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c4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c5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  <a:endParaRPr lang="en-US" altLang="zh-C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/>
          <p:nvPr>
            <p:custDataLst>
              <p:tags r:id="rId6"/>
            </p:custDataLst>
          </p:nvPr>
        </p:nvGraphicFramePr>
        <p:xfrm>
          <a:off x="6454775" y="7019925"/>
          <a:ext cx="3489960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70"/>
                <a:gridCol w="665480"/>
                <a:gridCol w="665480"/>
                <a:gridCol w="1522730"/>
              </a:tblGrid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t1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c1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c4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c5</a:t>
                      </a:r>
                      <a:endParaRPr lang="en-US" altLang="zh-CN" sz="1400"/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altLang="zh-CN" sz="2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2000-10-03</a:t>
                      </a:r>
                      <a:endParaRPr lang="en-US" altLang="zh-CN" sz="2000" b="1" i="1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4981575" y="5190490"/>
            <a:ext cx="1473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expected</a:t>
            </a:r>
            <a:r>
              <a:rPr lang="zh-CN" alt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980940" y="7019925"/>
            <a:ext cx="1216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actual</a:t>
            </a:r>
            <a:r>
              <a:rPr lang="zh-CN" alt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16355" y="8908415"/>
            <a:ext cx="8148955" cy="2553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	for (n = l-&gt;h; n; n = n-&gt;next) {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		sql_exp *c = n-&gt;data;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-		stmt *sin = (sel1 &amp;&amp; sel1-&gt;nrcols)?sel1:NULL;</a:t>
            </a:r>
            <a:endParaRPr lang="en-US" altLang="zh-CN" sz="20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+		stmt *sin = (sel1 &amp;&amp; sel1-&gt;nrcols &amp;&amp; !anti)?sel1:NULL;</a:t>
            </a:r>
            <a:endParaRPr lang="en-US" altLang="zh-CN" sz="200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		/* propagate the anti flag */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		....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	}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30464" y="12070682"/>
            <a:ext cx="8466050" cy="107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40" b="1"/>
              <a:t>MonetDB Bug#7888: Incorrect Predicate Simplification under OR Leading to Wrong UPDATE Execution</a:t>
            </a:r>
            <a:endParaRPr lang="en-US" altLang="zh-CN" sz="2140" b="1"/>
          </a:p>
          <a:p>
            <a:endParaRPr lang="zh-CN" altLang="en-US" sz="2140" b="1"/>
          </a:p>
        </p:txBody>
      </p:sp>
      <p:sp>
        <p:nvSpPr>
          <p:cNvPr id="31" name="文本框 30"/>
          <p:cNvSpPr txBox="1"/>
          <p:nvPr/>
        </p:nvSpPr>
        <p:spPr>
          <a:xfrm>
            <a:off x="1316355" y="8171815"/>
            <a:ext cx="854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(a) Bug Manifestation: Stability Collapse under Tautological Predicate Transformation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886585" y="11458575"/>
            <a:ext cx="760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(b) Fix: Anti-Flag-Aware Candidate List Propagation Strategy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2.xml><?xml version="1.0" encoding="utf-8"?>
<p:tagLst xmlns:p="http://schemas.openxmlformats.org/presentationml/2006/main">
  <p:tag name="TABLE_ENDDRAG_ORIGIN_RECT" val="133*85"/>
  <p:tag name="TABLE_ENDDRAG_RECT" val="607*428*133*85"/>
</p:tagLst>
</file>

<file path=ppt/tags/tag3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4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5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8.xml><?xml version="1.0" encoding="utf-8"?>
<p:tagLst xmlns:p="http://schemas.openxmlformats.org/presentationml/2006/main">
  <p:tag name="TABLE_ENDDRAG_ORIGIN_RECT" val="133*85"/>
  <p:tag name="TABLE_ENDDRAG_RECT" val="607*428*133*85"/>
</p:tagLst>
</file>

<file path=ppt/tags/tag9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10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11.xml><?xml version="1.0" encoding="utf-8"?>
<p:tagLst xmlns:p="http://schemas.openxmlformats.org/presentationml/2006/main">
  <p:tag name="TABLE_ENDDRAG_ORIGIN_RECT" val="207*72"/>
  <p:tag name="TABLE_ENDDRAG_RECT" val="596*270*207*7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1755</Words>
  <Application>WPS 演示</Application>
  <PresentationFormat>自定义</PresentationFormat>
  <Paragraphs>209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Arial(正文)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WPS_1693734662</cp:lastModifiedBy>
  <cp:revision>13</cp:revision>
  <dcterms:created xsi:type="dcterms:W3CDTF">2023-08-09T12:44:00Z</dcterms:created>
  <dcterms:modified xsi:type="dcterms:W3CDTF">2026-04-10T14:44:49Z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095429EEF5F4482E9F50138ADC995BAD_12</vt:lpwstr>
  </property>
</Properties>
</file>