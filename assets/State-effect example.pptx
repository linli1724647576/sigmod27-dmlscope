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</p:sldIdLst>
  <p:sldSz cx="13271500" cy="9377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068" y="1348"/>
      </p:cViewPr>
      <p:guideLst>
        <p:guide orient="horz" pos="2954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363" y="1534675"/>
            <a:ext cx="11280775" cy="3264712"/>
          </a:xfrm>
        </p:spPr>
        <p:txBody>
          <a:bodyPr anchor="b"/>
          <a:lstStyle>
            <a:lvl1pPr algn="ctr">
              <a:defRPr sz="82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938" y="4925287"/>
            <a:ext cx="9953625" cy="2264025"/>
          </a:xfrm>
        </p:spPr>
        <p:txBody>
          <a:bodyPr/>
          <a:lstStyle>
            <a:lvl1pPr marL="0" indent="0" algn="ctr">
              <a:buNone/>
              <a:defRPr sz="3282"/>
            </a:lvl1pPr>
            <a:lvl2pPr marL="625175" indent="0" algn="ctr">
              <a:buNone/>
              <a:defRPr sz="2735"/>
            </a:lvl2pPr>
            <a:lvl3pPr marL="1250351" indent="0" algn="ctr">
              <a:buNone/>
              <a:defRPr sz="2461"/>
            </a:lvl3pPr>
            <a:lvl4pPr marL="1875526" indent="0" algn="ctr">
              <a:buNone/>
              <a:defRPr sz="2188"/>
            </a:lvl4pPr>
            <a:lvl5pPr marL="2500701" indent="0" algn="ctr">
              <a:buNone/>
              <a:defRPr sz="2188"/>
            </a:lvl5pPr>
            <a:lvl6pPr marL="3125876" indent="0" algn="ctr">
              <a:buNone/>
              <a:defRPr sz="2188"/>
            </a:lvl6pPr>
            <a:lvl7pPr marL="3751052" indent="0" algn="ctr">
              <a:buNone/>
              <a:defRPr sz="2188"/>
            </a:lvl7pPr>
            <a:lvl8pPr marL="4376227" indent="0" algn="ctr">
              <a:buNone/>
              <a:defRPr sz="2188"/>
            </a:lvl8pPr>
            <a:lvl9pPr marL="5001402" indent="0" algn="ctr">
              <a:buNone/>
              <a:defRPr sz="218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68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504" y="2337831"/>
            <a:ext cx="11446669" cy="3900722"/>
          </a:xfrm>
        </p:spPr>
        <p:txBody>
          <a:bodyPr anchor="b"/>
          <a:lstStyle>
            <a:lvl1pPr>
              <a:defRPr sz="82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504" y="6275456"/>
            <a:ext cx="11446669" cy="2051297"/>
          </a:xfrm>
        </p:spPr>
        <p:txBody>
          <a:bodyPr/>
          <a:lstStyle>
            <a:lvl1pPr marL="0" indent="0">
              <a:buNone/>
              <a:defRPr sz="3282">
                <a:solidFill>
                  <a:schemeClr val="tx1"/>
                </a:solidFill>
              </a:defRPr>
            </a:lvl1pPr>
            <a:lvl2pPr marL="625175" indent="0">
              <a:buNone/>
              <a:defRPr sz="2735">
                <a:solidFill>
                  <a:schemeClr val="tx1">
                    <a:tint val="75000"/>
                  </a:schemeClr>
                </a:solidFill>
              </a:defRPr>
            </a:lvl2pPr>
            <a:lvl3pPr marL="1250351" indent="0">
              <a:buNone/>
              <a:defRPr sz="2461">
                <a:solidFill>
                  <a:schemeClr val="tx1">
                    <a:tint val="75000"/>
                  </a:schemeClr>
                </a:solidFill>
              </a:defRPr>
            </a:lvl3pPr>
            <a:lvl4pPr marL="1875526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4pPr>
            <a:lvl5pPr marL="2500701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5pPr>
            <a:lvl6pPr marL="3125876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6pPr>
            <a:lvl7pPr marL="3751052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7pPr>
            <a:lvl8pPr marL="4376227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8pPr>
            <a:lvl9pPr marL="5001402" indent="0">
              <a:buNone/>
              <a:defRPr sz="21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77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415" y="2496289"/>
            <a:ext cx="5640388" cy="59498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697" y="2496289"/>
            <a:ext cx="5640388" cy="59498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79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499260"/>
            <a:ext cx="11446669" cy="18125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46" y="2298757"/>
            <a:ext cx="5614466" cy="1126585"/>
          </a:xfrm>
        </p:spPr>
        <p:txBody>
          <a:bodyPr anchor="b"/>
          <a:lstStyle>
            <a:lvl1pPr marL="0" indent="0">
              <a:buNone/>
              <a:defRPr sz="3282" b="1"/>
            </a:lvl1pPr>
            <a:lvl2pPr marL="625175" indent="0">
              <a:buNone/>
              <a:defRPr sz="2735" b="1"/>
            </a:lvl2pPr>
            <a:lvl3pPr marL="1250351" indent="0">
              <a:buNone/>
              <a:defRPr sz="2461" b="1"/>
            </a:lvl3pPr>
            <a:lvl4pPr marL="1875526" indent="0">
              <a:buNone/>
              <a:defRPr sz="2188" b="1"/>
            </a:lvl4pPr>
            <a:lvl5pPr marL="2500701" indent="0">
              <a:buNone/>
              <a:defRPr sz="2188" b="1"/>
            </a:lvl5pPr>
            <a:lvl6pPr marL="3125876" indent="0">
              <a:buNone/>
              <a:defRPr sz="2188" b="1"/>
            </a:lvl6pPr>
            <a:lvl7pPr marL="3751052" indent="0">
              <a:buNone/>
              <a:defRPr sz="2188" b="1"/>
            </a:lvl7pPr>
            <a:lvl8pPr marL="4376227" indent="0">
              <a:buNone/>
              <a:defRPr sz="2188" b="1"/>
            </a:lvl8pPr>
            <a:lvl9pPr marL="5001402" indent="0">
              <a:buNone/>
              <a:defRPr sz="21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46" y="3425342"/>
            <a:ext cx="5614466" cy="5038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8698" y="2298757"/>
            <a:ext cx="5642116" cy="1126585"/>
          </a:xfrm>
        </p:spPr>
        <p:txBody>
          <a:bodyPr anchor="b"/>
          <a:lstStyle>
            <a:lvl1pPr marL="0" indent="0">
              <a:buNone/>
              <a:defRPr sz="3282" b="1"/>
            </a:lvl1pPr>
            <a:lvl2pPr marL="625175" indent="0">
              <a:buNone/>
              <a:defRPr sz="2735" b="1"/>
            </a:lvl2pPr>
            <a:lvl3pPr marL="1250351" indent="0">
              <a:buNone/>
              <a:defRPr sz="2461" b="1"/>
            </a:lvl3pPr>
            <a:lvl4pPr marL="1875526" indent="0">
              <a:buNone/>
              <a:defRPr sz="2188" b="1"/>
            </a:lvl4pPr>
            <a:lvl5pPr marL="2500701" indent="0">
              <a:buNone/>
              <a:defRPr sz="2188" b="1"/>
            </a:lvl5pPr>
            <a:lvl6pPr marL="3125876" indent="0">
              <a:buNone/>
              <a:defRPr sz="2188" b="1"/>
            </a:lvl6pPr>
            <a:lvl7pPr marL="3751052" indent="0">
              <a:buNone/>
              <a:defRPr sz="2188" b="1"/>
            </a:lvl7pPr>
            <a:lvl8pPr marL="4376227" indent="0">
              <a:buNone/>
              <a:defRPr sz="2188" b="1"/>
            </a:lvl8pPr>
            <a:lvl9pPr marL="5001402" indent="0">
              <a:buNone/>
              <a:defRPr sz="218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8698" y="3425342"/>
            <a:ext cx="5642116" cy="5038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67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0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25158"/>
            <a:ext cx="4280404" cy="2188051"/>
          </a:xfrm>
        </p:spPr>
        <p:txBody>
          <a:bodyPr anchor="b"/>
          <a:lstStyle>
            <a:lvl1pPr>
              <a:defRPr sz="43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116" y="1350168"/>
            <a:ext cx="6718697" cy="6664006"/>
          </a:xfrm>
        </p:spPr>
        <p:txBody>
          <a:bodyPr/>
          <a:lstStyle>
            <a:lvl1pPr>
              <a:defRPr sz="4376"/>
            </a:lvl1pPr>
            <a:lvl2pPr>
              <a:defRPr sz="3829"/>
            </a:lvl2pPr>
            <a:lvl3pPr>
              <a:defRPr sz="3282"/>
            </a:lvl3pPr>
            <a:lvl4pPr>
              <a:defRPr sz="2735"/>
            </a:lvl4pPr>
            <a:lvl5pPr>
              <a:defRPr sz="2735"/>
            </a:lvl5pPr>
            <a:lvl6pPr>
              <a:defRPr sz="2735"/>
            </a:lvl6pPr>
            <a:lvl7pPr>
              <a:defRPr sz="2735"/>
            </a:lvl7pPr>
            <a:lvl8pPr>
              <a:defRPr sz="2735"/>
            </a:lvl8pPr>
            <a:lvl9pPr>
              <a:defRPr sz="27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813209"/>
            <a:ext cx="4280404" cy="5211817"/>
          </a:xfrm>
        </p:spPr>
        <p:txBody>
          <a:bodyPr/>
          <a:lstStyle>
            <a:lvl1pPr marL="0" indent="0">
              <a:buNone/>
              <a:defRPr sz="2188"/>
            </a:lvl1pPr>
            <a:lvl2pPr marL="625175" indent="0">
              <a:buNone/>
              <a:defRPr sz="1914"/>
            </a:lvl2pPr>
            <a:lvl3pPr marL="1250351" indent="0">
              <a:buNone/>
              <a:defRPr sz="1641"/>
            </a:lvl3pPr>
            <a:lvl4pPr marL="1875526" indent="0">
              <a:buNone/>
              <a:defRPr sz="1367"/>
            </a:lvl4pPr>
            <a:lvl5pPr marL="2500701" indent="0">
              <a:buNone/>
              <a:defRPr sz="1367"/>
            </a:lvl5pPr>
            <a:lvl6pPr marL="3125876" indent="0">
              <a:buNone/>
              <a:defRPr sz="1367"/>
            </a:lvl6pPr>
            <a:lvl7pPr marL="3751052" indent="0">
              <a:buNone/>
              <a:defRPr sz="1367"/>
            </a:lvl7pPr>
            <a:lvl8pPr marL="4376227" indent="0">
              <a:buNone/>
              <a:defRPr sz="1367"/>
            </a:lvl8pPr>
            <a:lvl9pPr marL="5001402" indent="0">
              <a:buNone/>
              <a:defRPr sz="13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72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625158"/>
            <a:ext cx="4280404" cy="2188051"/>
          </a:xfrm>
        </p:spPr>
        <p:txBody>
          <a:bodyPr anchor="b"/>
          <a:lstStyle>
            <a:lvl1pPr>
              <a:defRPr sz="437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2116" y="1350168"/>
            <a:ext cx="6718697" cy="6664006"/>
          </a:xfrm>
        </p:spPr>
        <p:txBody>
          <a:bodyPr anchor="t"/>
          <a:lstStyle>
            <a:lvl1pPr marL="0" indent="0">
              <a:buNone/>
              <a:defRPr sz="4376"/>
            </a:lvl1pPr>
            <a:lvl2pPr marL="625175" indent="0">
              <a:buNone/>
              <a:defRPr sz="3829"/>
            </a:lvl2pPr>
            <a:lvl3pPr marL="1250351" indent="0">
              <a:buNone/>
              <a:defRPr sz="3282"/>
            </a:lvl3pPr>
            <a:lvl4pPr marL="1875526" indent="0">
              <a:buNone/>
              <a:defRPr sz="2735"/>
            </a:lvl4pPr>
            <a:lvl5pPr marL="2500701" indent="0">
              <a:buNone/>
              <a:defRPr sz="2735"/>
            </a:lvl5pPr>
            <a:lvl6pPr marL="3125876" indent="0">
              <a:buNone/>
              <a:defRPr sz="2735"/>
            </a:lvl6pPr>
            <a:lvl7pPr marL="3751052" indent="0">
              <a:buNone/>
              <a:defRPr sz="2735"/>
            </a:lvl7pPr>
            <a:lvl8pPr marL="4376227" indent="0">
              <a:buNone/>
              <a:defRPr sz="2735"/>
            </a:lvl8pPr>
            <a:lvl9pPr marL="5001402" indent="0">
              <a:buNone/>
              <a:defRPr sz="273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4" y="2813209"/>
            <a:ext cx="4280404" cy="5211817"/>
          </a:xfrm>
        </p:spPr>
        <p:txBody>
          <a:bodyPr/>
          <a:lstStyle>
            <a:lvl1pPr marL="0" indent="0">
              <a:buNone/>
              <a:defRPr sz="2188"/>
            </a:lvl1pPr>
            <a:lvl2pPr marL="625175" indent="0">
              <a:buNone/>
              <a:defRPr sz="1914"/>
            </a:lvl2pPr>
            <a:lvl3pPr marL="1250351" indent="0">
              <a:buNone/>
              <a:defRPr sz="1641"/>
            </a:lvl3pPr>
            <a:lvl4pPr marL="1875526" indent="0">
              <a:buNone/>
              <a:defRPr sz="1367"/>
            </a:lvl4pPr>
            <a:lvl5pPr marL="2500701" indent="0">
              <a:buNone/>
              <a:defRPr sz="1367"/>
            </a:lvl5pPr>
            <a:lvl6pPr marL="3125876" indent="0">
              <a:buNone/>
              <a:defRPr sz="1367"/>
            </a:lvl6pPr>
            <a:lvl7pPr marL="3751052" indent="0">
              <a:buNone/>
              <a:defRPr sz="1367"/>
            </a:lvl7pPr>
            <a:lvl8pPr marL="4376227" indent="0">
              <a:buNone/>
              <a:defRPr sz="1367"/>
            </a:lvl8pPr>
            <a:lvl9pPr marL="5001402" indent="0">
              <a:buNone/>
              <a:defRPr sz="13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938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26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7418" y="499258"/>
            <a:ext cx="2861667" cy="7946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416" y="499258"/>
            <a:ext cx="8419108" cy="7946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27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416" y="499260"/>
            <a:ext cx="11446669" cy="1812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416" y="2496289"/>
            <a:ext cx="11446669" cy="5949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415" y="8691428"/>
            <a:ext cx="2986088" cy="49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185" y="8691428"/>
            <a:ext cx="4479131" cy="49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2997" y="8691428"/>
            <a:ext cx="2986088" cy="499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8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50351" rtl="0" eaLnBrk="1" latinLnBrk="0" hangingPunct="1">
        <a:lnSpc>
          <a:spcPct val="90000"/>
        </a:lnSpc>
        <a:spcBef>
          <a:spcPct val="0"/>
        </a:spcBef>
        <a:buNone/>
        <a:defRPr sz="6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2588" indent="-312588" algn="l" defTabSz="1250351" rtl="0" eaLnBrk="1" latinLnBrk="0" hangingPunct="1">
        <a:lnSpc>
          <a:spcPct val="90000"/>
        </a:lnSpc>
        <a:spcBef>
          <a:spcPts val="1367"/>
        </a:spcBef>
        <a:buFont typeface="Arial" panose="020B0604020202020204" pitchFamily="34" charset="0"/>
        <a:buChar char="•"/>
        <a:defRPr sz="3829" kern="1200">
          <a:solidFill>
            <a:schemeClr val="tx1"/>
          </a:solidFill>
          <a:latin typeface="+mn-lt"/>
          <a:ea typeface="+mn-ea"/>
          <a:cs typeface="+mn-cs"/>
        </a:defRPr>
      </a:lvl1pPr>
      <a:lvl2pPr marL="937763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3282" kern="1200">
          <a:solidFill>
            <a:schemeClr val="tx1"/>
          </a:solidFill>
          <a:latin typeface="+mn-lt"/>
          <a:ea typeface="+mn-ea"/>
          <a:cs typeface="+mn-cs"/>
        </a:defRPr>
      </a:lvl2pPr>
      <a:lvl3pPr marL="1562938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735" kern="1200">
          <a:solidFill>
            <a:schemeClr val="tx1"/>
          </a:solidFill>
          <a:latin typeface="+mn-lt"/>
          <a:ea typeface="+mn-ea"/>
          <a:cs typeface="+mn-cs"/>
        </a:defRPr>
      </a:lvl3pPr>
      <a:lvl4pPr marL="2188113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4pPr>
      <a:lvl5pPr marL="2813289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5pPr>
      <a:lvl6pPr marL="3438464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6pPr>
      <a:lvl7pPr marL="4063639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7pPr>
      <a:lvl8pPr marL="4688815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8pPr>
      <a:lvl9pPr marL="5313990" indent="-312588" algn="l" defTabSz="1250351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24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1pPr>
      <a:lvl2pPr marL="625175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2pPr>
      <a:lvl3pPr marL="1250351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3pPr>
      <a:lvl4pPr marL="1875526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4pPr>
      <a:lvl5pPr marL="2500701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5pPr>
      <a:lvl6pPr marL="3125876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6pPr>
      <a:lvl7pPr marL="3751052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7pPr>
      <a:lvl8pPr marL="4376227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8pPr>
      <a:lvl9pPr marL="5001402" algn="l" defTabSz="1250351" rtl="0" eaLnBrk="1" latinLnBrk="0" hangingPunct="1">
        <a:defRPr sz="24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20">
            <a:extLst>
              <a:ext uri="{FF2B5EF4-FFF2-40B4-BE49-F238E27FC236}">
                <a16:creationId xmlns:a16="http://schemas.microsoft.com/office/drawing/2014/main" id="{DE711739-2C17-AB35-2D48-838EA7B59DCA}"/>
              </a:ext>
            </a:extLst>
          </p:cNvPr>
          <p:cNvSpPr/>
          <p:nvPr/>
        </p:nvSpPr>
        <p:spPr>
          <a:xfrm>
            <a:off x="10978904" y="5898780"/>
            <a:ext cx="2166439" cy="1065857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圆角矩形 2">
            <a:extLst>
              <a:ext uri="{FF2B5EF4-FFF2-40B4-BE49-F238E27FC236}">
                <a16:creationId xmlns:a16="http://schemas.microsoft.com/office/drawing/2014/main" id="{2D100AA3-5FC1-3221-0F36-422E77FE0040}"/>
              </a:ext>
            </a:extLst>
          </p:cNvPr>
          <p:cNvSpPr/>
          <p:nvPr/>
        </p:nvSpPr>
        <p:spPr>
          <a:xfrm>
            <a:off x="7479329" y="5686098"/>
            <a:ext cx="2413635" cy="222635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id="{F8136300-F2A7-6038-F467-D8403C305D50}"/>
              </a:ext>
            </a:extLst>
          </p:cNvPr>
          <p:cNvSpPr/>
          <p:nvPr/>
        </p:nvSpPr>
        <p:spPr>
          <a:xfrm>
            <a:off x="628952" y="567580"/>
            <a:ext cx="2413635" cy="313436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59BE378E-642F-27A2-1509-5BFB5A8307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8035" y="2327800"/>
            <a:ext cx="1950720" cy="1294130"/>
          </a:xfrm>
          <a:prstGeom prst="rect">
            <a:avLst/>
          </a:prstGeom>
        </p:spPr>
      </p:pic>
      <p:pic>
        <p:nvPicPr>
          <p:cNvPr id="6" name="table">
            <a:extLst>
              <a:ext uri="{FF2B5EF4-FFF2-40B4-BE49-F238E27FC236}">
                <a16:creationId xmlns:a16="http://schemas.microsoft.com/office/drawing/2014/main" id="{39BDDC11-BDEF-A5B4-D848-C361FA9F2D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8035" y="1037480"/>
            <a:ext cx="1950720" cy="1294130"/>
          </a:xfrm>
          <a:prstGeom prst="rect">
            <a:avLst/>
          </a:prstGeom>
        </p:spPr>
      </p:pic>
      <p:sp>
        <p:nvSpPr>
          <p:cNvPr id="7" name="文本框 3">
            <a:extLst>
              <a:ext uri="{FF2B5EF4-FFF2-40B4-BE49-F238E27FC236}">
                <a16:creationId xmlns:a16="http://schemas.microsoft.com/office/drawing/2014/main" id="{42F8D0F1-D4C1-DCDE-5CFA-BCDB255547EA}"/>
              </a:ext>
            </a:extLst>
          </p:cNvPr>
          <p:cNvSpPr txBox="1"/>
          <p:nvPr/>
        </p:nvSpPr>
        <p:spPr>
          <a:xfrm>
            <a:off x="632762" y="559325"/>
            <a:ext cx="2409825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Pre-State 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0416C1-2A91-D740-7BAA-CDB31ACCD5CE}"/>
              </a:ext>
            </a:extLst>
          </p:cNvPr>
          <p:cNvSpPr txBox="1"/>
          <p:nvPr/>
        </p:nvSpPr>
        <p:spPr>
          <a:xfrm>
            <a:off x="3890743" y="496377"/>
            <a:ext cx="2617228" cy="1775871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sz="2000" b="1"/>
              <a:t>UPDATE</a:t>
            </a:r>
            <a:r>
              <a:rPr lang="en-US" altLang="zh-CN" sz="2000"/>
              <a:t> t1</a:t>
            </a:r>
          </a:p>
          <a:p>
            <a:pPr indent="457200">
              <a:lnSpc>
                <a:spcPct val="140000"/>
              </a:lnSpc>
            </a:pPr>
            <a:r>
              <a:rPr lang="en-US" altLang="zh-CN" sz="2000" b="1"/>
              <a:t>INNER JOIN</a:t>
            </a:r>
            <a:r>
              <a:rPr lang="en-US" altLang="zh-CN" sz="2000"/>
              <a:t> t2</a:t>
            </a:r>
          </a:p>
          <a:p>
            <a:pPr indent="457200">
              <a:lnSpc>
                <a:spcPct val="140000"/>
              </a:lnSpc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ON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</a:rPr>
              <a:t> (t1.c1&lt;=t2.c1)</a:t>
            </a:r>
            <a:r>
              <a:rPr lang="en-US" altLang="zh-CN" sz="2000"/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sz="2000" b="1"/>
              <a:t>SET</a:t>
            </a:r>
            <a:r>
              <a:rPr lang="en-US" altLang="zh-CN" sz="2000"/>
              <a:t> t1.c2=t2.c2 </a:t>
            </a:r>
            <a:endParaRPr lang="en-US" altLang="zh-CN" sz="20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圆角矩形 9">
            <a:extLst>
              <a:ext uri="{FF2B5EF4-FFF2-40B4-BE49-F238E27FC236}">
                <a16:creationId xmlns:a16="http://schemas.microsoft.com/office/drawing/2014/main" id="{019A4311-9ADF-3EC6-95CC-E0EF025B6A20}"/>
              </a:ext>
            </a:extLst>
          </p:cNvPr>
          <p:cNvSpPr/>
          <p:nvPr/>
        </p:nvSpPr>
        <p:spPr>
          <a:xfrm>
            <a:off x="7460913" y="557861"/>
            <a:ext cx="4864100" cy="165290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A036524D-4091-2FC8-D9C4-D318A482766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92688" y="950291"/>
            <a:ext cx="1950720" cy="1180465"/>
          </a:xfrm>
          <a:prstGeom prst="rect">
            <a:avLst/>
          </a:prstGeom>
        </p:spPr>
      </p:pic>
      <p:pic>
        <p:nvPicPr>
          <p:cNvPr id="11" name="table">
            <a:extLst>
              <a:ext uri="{FF2B5EF4-FFF2-40B4-BE49-F238E27FC236}">
                <a16:creationId xmlns:a16="http://schemas.microsoft.com/office/drawing/2014/main" id="{31BC24B0-0986-28E0-938F-DFAB1B8BAC4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111403" y="952196"/>
            <a:ext cx="1950720" cy="1180465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715E109-4B1F-98A1-FF86-E50E0A78B965}"/>
              </a:ext>
            </a:extLst>
          </p:cNvPr>
          <p:cNvCxnSpPr>
            <a:stCxn id="9" idx="0"/>
          </p:cNvCxnSpPr>
          <p:nvPr/>
        </p:nvCxnSpPr>
        <p:spPr>
          <a:xfrm>
            <a:off x="9892963" y="557861"/>
            <a:ext cx="3810" cy="1607185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F7A5996-27C0-7569-B932-37E65A2F7063}"/>
              </a:ext>
            </a:extLst>
          </p:cNvPr>
          <p:cNvSpPr/>
          <p:nvPr/>
        </p:nvSpPr>
        <p:spPr>
          <a:xfrm>
            <a:off x="7468534" y="557861"/>
            <a:ext cx="2421255" cy="34353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Result1(t1.1&lt;=t2.1)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FF4527-AD00-86F3-4029-E9775666D7AA}"/>
              </a:ext>
            </a:extLst>
          </p:cNvPr>
          <p:cNvSpPr/>
          <p:nvPr/>
        </p:nvSpPr>
        <p:spPr>
          <a:xfrm>
            <a:off x="9889789" y="557861"/>
            <a:ext cx="2421255" cy="34353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Result2(t1.1&lt;=t2.2)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6851585-F546-336E-244C-3D584131DE94}"/>
              </a:ext>
            </a:extLst>
          </p:cNvPr>
          <p:cNvCxnSpPr>
            <a:cxnSpLocks/>
          </p:cNvCxnSpPr>
          <p:nvPr/>
        </p:nvCxnSpPr>
        <p:spPr>
          <a:xfrm>
            <a:off x="3091282" y="1438331"/>
            <a:ext cx="714558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1EA035B-BB23-2A66-C59E-91DC9600CF9D}"/>
              </a:ext>
            </a:extLst>
          </p:cNvPr>
          <p:cNvCxnSpPr>
            <a:cxnSpLocks/>
          </p:cNvCxnSpPr>
          <p:nvPr/>
        </p:nvCxnSpPr>
        <p:spPr>
          <a:xfrm>
            <a:off x="6592875" y="1438331"/>
            <a:ext cx="714558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4">
            <a:extLst>
              <a:ext uri="{FF2B5EF4-FFF2-40B4-BE49-F238E27FC236}">
                <a16:creationId xmlns:a16="http://schemas.microsoft.com/office/drawing/2014/main" id="{F075FAA2-A552-EAF3-4782-620B39184321}"/>
              </a:ext>
            </a:extLst>
          </p:cNvPr>
          <p:cNvSpPr txBox="1"/>
          <p:nvPr/>
        </p:nvSpPr>
        <p:spPr>
          <a:xfrm>
            <a:off x="3870209" y="2767077"/>
            <a:ext cx="2658297" cy="1768176"/>
          </a:xfrm>
          <a:prstGeom prst="rect">
            <a:avLst/>
          </a:prstGeom>
          <a:ln w="28575">
            <a:prstDash val="dash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000" b="1"/>
              <a:t>SELECT DISTINCT</a:t>
            </a:r>
          </a:p>
          <a:p>
            <a:pPr>
              <a:lnSpc>
                <a:spcPct val="110000"/>
              </a:lnSpc>
            </a:pPr>
            <a:r>
              <a:rPr lang="en-US" altLang="zh-CN" sz="2000"/>
              <a:t>              t1.c1 </a:t>
            </a:r>
          </a:p>
          <a:p>
            <a:pPr>
              <a:lnSpc>
                <a:spcPct val="110000"/>
              </a:lnSpc>
            </a:pPr>
            <a:r>
              <a:rPr lang="en-US" altLang="zh-CN" sz="2000" b="1"/>
              <a:t>FROM t1</a:t>
            </a:r>
            <a:r>
              <a:rPr lang="en-US" altLang="zh-CN" sz="2000"/>
              <a:t> </a:t>
            </a:r>
          </a:p>
          <a:p>
            <a:pPr indent="457200">
              <a:lnSpc>
                <a:spcPct val="110000"/>
              </a:lnSpc>
            </a:pPr>
            <a:r>
              <a:rPr lang="en-US" altLang="zh-CN" sz="2000" b="1"/>
              <a:t>INNER JOIN</a:t>
            </a:r>
            <a:r>
              <a:rPr lang="en-US" altLang="zh-CN" sz="2000"/>
              <a:t> t2</a:t>
            </a:r>
          </a:p>
          <a:p>
            <a:pPr indent="457200">
              <a:lnSpc>
                <a:spcPct val="110000"/>
              </a:lnSpc>
            </a:pPr>
            <a:r>
              <a:rPr lang="en-US" altLang="zh-CN" sz="2000" b="1">
                <a:solidFill>
                  <a:schemeClr val="accent2">
                    <a:lumMod val="75000"/>
                  </a:schemeClr>
                </a:solidFill>
              </a:rPr>
              <a:t>ON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</a:rPr>
              <a:t> (t1.c1&lt;=t2.c1)</a:t>
            </a:r>
            <a:endParaRPr lang="en-US" altLang="zh-CN" sz="2000"/>
          </a:p>
        </p:txBody>
      </p:sp>
      <p:sp>
        <p:nvSpPr>
          <p:cNvPr id="21" name="文本框 16">
            <a:extLst>
              <a:ext uri="{FF2B5EF4-FFF2-40B4-BE49-F238E27FC236}">
                <a16:creationId xmlns:a16="http://schemas.microsoft.com/office/drawing/2014/main" id="{AC389270-A1A7-C3AA-5FC2-0EB47B0B8430}"/>
              </a:ext>
            </a:extLst>
          </p:cNvPr>
          <p:cNvSpPr txBox="1"/>
          <p:nvPr/>
        </p:nvSpPr>
        <p:spPr>
          <a:xfrm>
            <a:off x="4971550" y="2296275"/>
            <a:ext cx="256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i="1"/>
              <a:t>(Same predicate)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7471B5A-487B-9D77-D7DB-794BA177E86F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5199357" y="2234226"/>
            <a:ext cx="1" cy="532851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20">
            <a:extLst>
              <a:ext uri="{FF2B5EF4-FFF2-40B4-BE49-F238E27FC236}">
                <a16:creationId xmlns:a16="http://schemas.microsoft.com/office/drawing/2014/main" id="{6E7FA39E-66B1-81ED-51AF-8CBD838C799D}"/>
              </a:ext>
            </a:extLst>
          </p:cNvPr>
          <p:cNvSpPr/>
          <p:nvPr/>
        </p:nvSpPr>
        <p:spPr>
          <a:xfrm>
            <a:off x="9471323" y="2867038"/>
            <a:ext cx="843280" cy="1306195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6" name="table">
            <a:extLst>
              <a:ext uri="{FF2B5EF4-FFF2-40B4-BE49-F238E27FC236}">
                <a16:creationId xmlns:a16="http://schemas.microsoft.com/office/drawing/2014/main" id="{274FA691-5572-7ABD-6C59-83E05832FB3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535458" y="2954667"/>
            <a:ext cx="720090" cy="1173480"/>
          </a:xfrm>
          <a:prstGeom prst="rect">
            <a:avLst/>
          </a:prstGeom>
        </p:spPr>
      </p:pic>
      <p:sp>
        <p:nvSpPr>
          <p:cNvPr id="27" name="文本框 19">
            <a:extLst>
              <a:ext uri="{FF2B5EF4-FFF2-40B4-BE49-F238E27FC236}">
                <a16:creationId xmlns:a16="http://schemas.microsoft.com/office/drawing/2014/main" id="{FA9F0388-5F5B-EB4A-EF3D-CBCC821C5E86}"/>
              </a:ext>
            </a:extLst>
          </p:cNvPr>
          <p:cNvSpPr txBox="1"/>
          <p:nvPr/>
        </p:nvSpPr>
        <p:spPr>
          <a:xfrm>
            <a:off x="9034093" y="4307850"/>
            <a:ext cx="1913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altLang="zh-CN" sz="2000"/>
              <a:t>State-Effect Token Set E(q,S)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0A1BE2D-1B49-3800-F0C9-3970893A4838}"/>
              </a:ext>
            </a:extLst>
          </p:cNvPr>
          <p:cNvCxnSpPr/>
          <p:nvPr/>
        </p:nvCxnSpPr>
        <p:spPr>
          <a:xfrm>
            <a:off x="9884423" y="2210765"/>
            <a:ext cx="0" cy="601726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3">
            <a:extLst>
              <a:ext uri="{FF2B5EF4-FFF2-40B4-BE49-F238E27FC236}">
                <a16:creationId xmlns:a16="http://schemas.microsoft.com/office/drawing/2014/main" id="{333E37BC-610A-71D8-5508-35066E9F6091}"/>
              </a:ext>
            </a:extLst>
          </p:cNvPr>
          <p:cNvSpPr txBox="1"/>
          <p:nvPr/>
        </p:nvSpPr>
        <p:spPr>
          <a:xfrm>
            <a:off x="9962374" y="2320683"/>
            <a:ext cx="25190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i="1"/>
              <a:t>(Same affected rows)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A365F0-F17E-621D-7D81-8E3836896EAD}"/>
              </a:ext>
            </a:extLst>
          </p:cNvPr>
          <p:cNvSpPr txBox="1"/>
          <p:nvPr/>
        </p:nvSpPr>
        <p:spPr>
          <a:xfrm>
            <a:off x="4406422" y="130172"/>
            <a:ext cx="2186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Original DML</a:t>
            </a:r>
            <a:endParaRPr lang="zh-CN" altLang="en-US" sz="20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A7169F5-8085-47D3-E2A6-11B06776C9A0}"/>
              </a:ext>
            </a:extLst>
          </p:cNvPr>
          <p:cNvSpPr txBox="1"/>
          <p:nvPr/>
        </p:nvSpPr>
        <p:spPr>
          <a:xfrm>
            <a:off x="3890743" y="4577508"/>
            <a:ext cx="2607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Derived Matching Query (match_sql)</a:t>
            </a:r>
            <a:endParaRPr lang="zh-CN" altLang="en-US" sz="20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2A86739-C5D4-9CF3-EF19-247923C1A6A8}"/>
              </a:ext>
            </a:extLst>
          </p:cNvPr>
          <p:cNvSpPr txBox="1"/>
          <p:nvPr/>
        </p:nvSpPr>
        <p:spPr>
          <a:xfrm>
            <a:off x="8212565" y="113937"/>
            <a:ext cx="4204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Post-State S1 (may vary in values)</a:t>
            </a:r>
            <a:endParaRPr lang="zh-CN" altLang="en-US" sz="200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5F1F22B-94FC-C9CC-77AD-7C63EF5FA91B}"/>
              </a:ext>
            </a:extLst>
          </p:cNvPr>
          <p:cNvCxnSpPr>
            <a:cxnSpLocks/>
          </p:cNvCxnSpPr>
          <p:nvPr/>
        </p:nvCxnSpPr>
        <p:spPr>
          <a:xfrm>
            <a:off x="6838159" y="3502500"/>
            <a:ext cx="2195935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E990A76A-E99E-7070-F8B7-0972471B8C9B}"/>
              </a:ext>
            </a:extLst>
          </p:cNvPr>
          <p:cNvSpPr txBox="1"/>
          <p:nvPr/>
        </p:nvSpPr>
        <p:spPr>
          <a:xfrm>
            <a:off x="303195" y="4367643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highlight>
                  <a:srgbClr val="FFFF00"/>
                </a:highlight>
              </a:rPr>
              <a:t>(a) Matched-Row Extraction</a:t>
            </a:r>
            <a:endParaRPr lang="zh-CN" altLang="en-US" sz="2000" i="1">
              <a:highlight>
                <a:srgbClr val="FFFF00"/>
              </a:highlight>
            </a:endParaRPr>
          </a:p>
        </p:txBody>
      </p:sp>
      <p:sp>
        <p:nvSpPr>
          <p:cNvPr id="39" name="圆角矩形 2">
            <a:extLst>
              <a:ext uri="{FF2B5EF4-FFF2-40B4-BE49-F238E27FC236}">
                <a16:creationId xmlns:a16="http://schemas.microsoft.com/office/drawing/2014/main" id="{AAC66C77-801C-EDA9-FEED-4DA875C95080}"/>
              </a:ext>
            </a:extLst>
          </p:cNvPr>
          <p:cNvSpPr/>
          <p:nvPr/>
        </p:nvSpPr>
        <p:spPr>
          <a:xfrm>
            <a:off x="550263" y="5730833"/>
            <a:ext cx="2413635" cy="2002394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41" name="table">
            <a:extLst>
              <a:ext uri="{FF2B5EF4-FFF2-40B4-BE49-F238E27FC236}">
                <a16:creationId xmlns:a16="http://schemas.microsoft.com/office/drawing/2014/main" id="{93571FCD-3400-9B89-7A40-90470DC4E9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49346" y="6200733"/>
            <a:ext cx="1950720" cy="1294130"/>
          </a:xfrm>
          <a:prstGeom prst="rect">
            <a:avLst/>
          </a:prstGeom>
        </p:spPr>
      </p:pic>
      <p:sp>
        <p:nvSpPr>
          <p:cNvPr id="42" name="文本框 3">
            <a:extLst>
              <a:ext uri="{FF2B5EF4-FFF2-40B4-BE49-F238E27FC236}">
                <a16:creationId xmlns:a16="http://schemas.microsoft.com/office/drawing/2014/main" id="{A41AD104-5AEA-7CEC-B93A-6FAAE35811B8}"/>
              </a:ext>
            </a:extLst>
          </p:cNvPr>
          <p:cNvSpPr txBox="1"/>
          <p:nvPr/>
        </p:nvSpPr>
        <p:spPr>
          <a:xfrm>
            <a:off x="554073" y="5722578"/>
            <a:ext cx="2409825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Pre-State S</a:t>
            </a:r>
          </a:p>
        </p:txBody>
      </p:sp>
      <p:sp>
        <p:nvSpPr>
          <p:cNvPr id="43" name="文本框 3">
            <a:extLst>
              <a:ext uri="{FF2B5EF4-FFF2-40B4-BE49-F238E27FC236}">
                <a16:creationId xmlns:a16="http://schemas.microsoft.com/office/drawing/2014/main" id="{F44FE3AD-C687-F3C6-CE57-8A56EE024C7C}"/>
              </a:ext>
            </a:extLst>
          </p:cNvPr>
          <p:cNvSpPr txBox="1"/>
          <p:nvPr/>
        </p:nvSpPr>
        <p:spPr>
          <a:xfrm>
            <a:off x="3812055" y="5686098"/>
            <a:ext cx="2709843" cy="228370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/>
              <a:t>INSERT INTO    </a:t>
            </a:r>
          </a:p>
          <a:p>
            <a:pPr>
              <a:lnSpc>
                <a:spcPct val="120000"/>
              </a:lnSpc>
            </a:pPr>
            <a:r>
              <a:rPr lang="en-US" altLang="zh-CN" sz="2000" b="1"/>
              <a:t>     </a:t>
            </a:r>
            <a:r>
              <a:rPr lang="en-US" altLang="zh-CN" sz="2000"/>
              <a:t>t1(c1,c2) </a:t>
            </a:r>
          </a:p>
          <a:p>
            <a:pPr>
              <a:lnSpc>
                <a:spcPct val="120000"/>
              </a:lnSpc>
            </a:pPr>
            <a:r>
              <a:rPr lang="en-US" altLang="zh-CN" sz="2000" b="1"/>
              <a:t>SELECT </a:t>
            </a:r>
          </a:p>
          <a:p>
            <a:pPr>
              <a:lnSpc>
                <a:spcPct val="120000"/>
              </a:lnSpc>
            </a:pPr>
            <a:r>
              <a:rPr lang="en-US" altLang="zh-CN" sz="2000" b="1"/>
              <a:t> 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 t1.c1+2,40</a:t>
            </a:r>
            <a:r>
              <a:rPr lang="en-US" altLang="zh-CN" sz="2000"/>
              <a:t> </a:t>
            </a:r>
            <a:endParaRPr lang="en-US" altLang="zh-CN" sz="2000" b="1"/>
          </a:p>
          <a:p>
            <a:pPr>
              <a:lnSpc>
                <a:spcPct val="120000"/>
              </a:lnSpc>
            </a:pPr>
            <a:r>
              <a:rPr lang="en-US" altLang="zh-CN" sz="2000" b="1"/>
              <a:t>FROM</a:t>
            </a:r>
            <a:r>
              <a:rPr lang="en-US" altLang="zh-CN" sz="2000"/>
              <a:t> t1</a:t>
            </a:r>
            <a:endParaRPr lang="en-US" altLang="zh-CN" sz="2000" b="1"/>
          </a:p>
          <a:p>
            <a:pPr>
              <a:lnSpc>
                <a:spcPct val="120000"/>
              </a:lnSpc>
            </a:pPr>
            <a:r>
              <a:rPr lang="en-US" altLang="zh-CN" sz="2000" b="1"/>
              <a:t>WHERE </a:t>
            </a:r>
            <a:r>
              <a:rPr lang="en-US" altLang="zh-CN" sz="2000">
                <a:solidFill>
                  <a:schemeClr val="accent2"/>
                </a:solidFill>
              </a:rPr>
              <a:t>t1.c1&gt;1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1F8FC0F-DF5E-FEB9-A47B-408555B4723E}"/>
              </a:ext>
            </a:extLst>
          </p:cNvPr>
          <p:cNvSpPr txBox="1"/>
          <p:nvPr/>
        </p:nvSpPr>
        <p:spPr>
          <a:xfrm>
            <a:off x="4406422" y="8004937"/>
            <a:ext cx="149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Original DML</a:t>
            </a:r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C79C81B-91E3-6001-63C2-743EE1948CB6}"/>
              </a:ext>
            </a:extLst>
          </p:cNvPr>
          <p:cNvCxnSpPr>
            <a:cxnSpLocks/>
          </p:cNvCxnSpPr>
          <p:nvPr/>
        </p:nvCxnSpPr>
        <p:spPr>
          <a:xfrm>
            <a:off x="3067627" y="6671761"/>
            <a:ext cx="714558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FC373687-06D1-C123-54F6-D4286525977A}"/>
              </a:ext>
            </a:extLst>
          </p:cNvPr>
          <p:cNvSpPr txBox="1"/>
          <p:nvPr/>
        </p:nvSpPr>
        <p:spPr>
          <a:xfrm>
            <a:off x="303195" y="8812626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highlight>
                  <a:srgbClr val="FFFF00"/>
                </a:highlight>
              </a:rPr>
              <a:t>(b) Changed-Row Extraction</a:t>
            </a:r>
            <a:endParaRPr lang="zh-CN" altLang="en-US" sz="2000" i="1">
              <a:highlight>
                <a:srgbClr val="FFFF00"/>
              </a:highlight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30D9F6E-5447-5EFB-210D-9EF745CF8B13}"/>
              </a:ext>
            </a:extLst>
          </p:cNvPr>
          <p:cNvCxnSpPr/>
          <p:nvPr/>
        </p:nvCxnSpPr>
        <p:spPr>
          <a:xfrm>
            <a:off x="84129" y="5327650"/>
            <a:ext cx="13103243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E09EBD15-C5FC-AE11-F7E0-0100F51FA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905163"/>
              </p:ext>
            </p:extLst>
          </p:nvPr>
        </p:nvGraphicFramePr>
        <p:xfrm>
          <a:off x="7725390" y="6152323"/>
          <a:ext cx="1921510" cy="1576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85"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t1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c1(pk)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c2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8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4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" name="文本框 3">
            <a:extLst>
              <a:ext uri="{FF2B5EF4-FFF2-40B4-BE49-F238E27FC236}">
                <a16:creationId xmlns:a16="http://schemas.microsoft.com/office/drawing/2014/main" id="{FD8DC0FD-5BF1-20F2-76A2-C883C694FE93}"/>
              </a:ext>
            </a:extLst>
          </p:cNvPr>
          <p:cNvSpPr txBox="1"/>
          <p:nvPr/>
        </p:nvSpPr>
        <p:spPr>
          <a:xfrm>
            <a:off x="7483139" y="5677843"/>
            <a:ext cx="2409825" cy="400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Post-State S1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EA38B74-051F-F517-6235-3FE8802B4983}"/>
              </a:ext>
            </a:extLst>
          </p:cNvPr>
          <p:cNvCxnSpPr>
            <a:cxnSpLocks/>
          </p:cNvCxnSpPr>
          <p:nvPr/>
        </p:nvCxnSpPr>
        <p:spPr>
          <a:xfrm>
            <a:off x="6667666" y="6615331"/>
            <a:ext cx="714558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3841DFE-470A-9011-7AAC-07CACC6B47F9}"/>
              </a:ext>
            </a:extLst>
          </p:cNvPr>
          <p:cNvCxnSpPr>
            <a:cxnSpLocks/>
          </p:cNvCxnSpPr>
          <p:nvPr/>
        </p:nvCxnSpPr>
        <p:spPr>
          <a:xfrm>
            <a:off x="9990996" y="6615331"/>
            <a:ext cx="894492" cy="0"/>
          </a:xfrm>
          <a:prstGeom prst="straightConnector1">
            <a:avLst/>
          </a:prstGeom>
          <a:ln w="92075"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37FA50AD-98A6-E788-58A4-5945BCC25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01800"/>
              </p:ext>
            </p:extLst>
          </p:nvPr>
        </p:nvGraphicFramePr>
        <p:xfrm>
          <a:off x="11100415" y="6039597"/>
          <a:ext cx="1934230" cy="78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85"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c1(pk)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400"/>
                        <a:t>Row hash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文本框 19">
            <a:extLst>
              <a:ext uri="{FF2B5EF4-FFF2-40B4-BE49-F238E27FC236}">
                <a16:creationId xmlns:a16="http://schemas.microsoft.com/office/drawing/2014/main" id="{E007BAB1-CC8F-82E7-29F9-545EC45FCE68}"/>
              </a:ext>
            </a:extLst>
          </p:cNvPr>
          <p:cNvSpPr txBox="1"/>
          <p:nvPr/>
        </p:nvSpPr>
        <p:spPr>
          <a:xfrm>
            <a:off x="11120839" y="7101634"/>
            <a:ext cx="1913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altLang="zh-CN" sz="2000"/>
              <a:t>State-Effect Token Set E(q,S)</a:t>
            </a:r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FC1DB595-CAB4-F1DD-CEFE-18C7CB2063DC}"/>
              </a:ext>
            </a:extLst>
          </p:cNvPr>
          <p:cNvCxnSpPr>
            <a:cxnSpLocks/>
            <a:endCxn id="39" idx="2"/>
          </p:cNvCxnSpPr>
          <p:nvPr/>
        </p:nvCxnSpPr>
        <p:spPr>
          <a:xfrm rot="10800000">
            <a:off x="1757080" y="7733229"/>
            <a:ext cx="5193074" cy="769423"/>
          </a:xfrm>
          <a:prstGeom prst="bentConnector2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16">
            <a:extLst>
              <a:ext uri="{FF2B5EF4-FFF2-40B4-BE49-F238E27FC236}">
                <a16:creationId xmlns:a16="http://schemas.microsoft.com/office/drawing/2014/main" id="{D5723B45-FBB7-BDE2-6CD8-A76F88E7BEFA}"/>
              </a:ext>
            </a:extLst>
          </p:cNvPr>
          <p:cNvSpPr txBox="1"/>
          <p:nvPr/>
        </p:nvSpPr>
        <p:spPr>
          <a:xfrm>
            <a:off x="5576869" y="8628476"/>
            <a:ext cx="188404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i="1"/>
              <a:t>Diff &amp; Normalize</a:t>
            </a: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C271648E-ACAE-28F0-25AA-5C7E75F76423}"/>
              </a:ext>
            </a:extLst>
          </p:cNvPr>
          <p:cNvCxnSpPr>
            <a:endCxn id="50" idx="2"/>
          </p:cNvCxnSpPr>
          <p:nvPr/>
        </p:nvCxnSpPr>
        <p:spPr>
          <a:xfrm flipV="1">
            <a:off x="6950154" y="7912451"/>
            <a:ext cx="1735992" cy="590201"/>
          </a:xfrm>
          <a:prstGeom prst="bentConnector2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26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162</Words>
  <Application>Microsoft Office PowerPoint</Application>
  <PresentationFormat>自定义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10</cp:revision>
  <dcterms:created xsi:type="dcterms:W3CDTF">2023-08-09T12:44:00Z</dcterms:created>
  <dcterms:modified xsi:type="dcterms:W3CDTF">2026-04-04T14:09:21Z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