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</p:sldIdLst>
  <p:sldSz cx="139922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4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34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984" y="1404"/>
      </p:cViewPr>
      <p:guideLst>
        <p:guide orient="horz" pos="2160"/>
        <p:guide pos="44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49028" y="1122363"/>
            <a:ext cx="10494169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9028" y="3602038"/>
            <a:ext cx="1049416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884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313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678" y="1709739"/>
            <a:ext cx="1206829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678" y="4589464"/>
            <a:ext cx="1206829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31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1965" y="1825625"/>
            <a:ext cx="5946696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3564" y="1825625"/>
            <a:ext cx="5946696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5921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788" y="365126"/>
            <a:ext cx="12068294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789" y="1681163"/>
            <a:ext cx="59193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3789" y="2505075"/>
            <a:ext cx="591936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83564" y="1681163"/>
            <a:ext cx="594851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83564" y="2505075"/>
            <a:ext cx="594851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844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251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619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789" y="457200"/>
            <a:ext cx="451285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8518" y="987426"/>
            <a:ext cx="708356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3789" y="2057400"/>
            <a:ext cx="451285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63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789" y="457200"/>
            <a:ext cx="451285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8518" y="987426"/>
            <a:ext cx="7083564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3789" y="2057400"/>
            <a:ext cx="451285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16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405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13186" y="365125"/>
            <a:ext cx="3017074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1965" y="365125"/>
            <a:ext cx="8876318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278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1966" y="365126"/>
            <a:ext cx="1206829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1966" y="1825625"/>
            <a:ext cx="1206829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1965" y="6356351"/>
            <a:ext cx="31482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34925" y="6356351"/>
            <a:ext cx="4722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82009" y="6356351"/>
            <a:ext cx="31482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649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椭圆 151">
            <a:extLst>
              <a:ext uri="{FF2B5EF4-FFF2-40B4-BE49-F238E27FC236}">
                <a16:creationId xmlns:a16="http://schemas.microsoft.com/office/drawing/2014/main" id="{4D983B64-880C-31D9-5CE1-DDD0347F60FA}"/>
              </a:ext>
            </a:extLst>
          </p:cNvPr>
          <p:cNvSpPr/>
          <p:nvPr/>
        </p:nvSpPr>
        <p:spPr>
          <a:xfrm>
            <a:off x="7606817" y="6458311"/>
            <a:ext cx="234950" cy="22225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D396BBF3-64B2-9E31-DAF1-01C1005E3002}"/>
              </a:ext>
            </a:extLst>
          </p:cNvPr>
          <p:cNvSpPr/>
          <p:nvPr/>
        </p:nvSpPr>
        <p:spPr>
          <a:xfrm>
            <a:off x="101581" y="387123"/>
            <a:ext cx="2152995" cy="5609334"/>
          </a:xfrm>
          <a:prstGeom prst="roundRect">
            <a:avLst/>
          </a:prstGeom>
          <a:solidFill>
            <a:srgbClr val="F2F7FD"/>
          </a:solidFill>
          <a:ln w="28575">
            <a:solidFill>
              <a:schemeClr val="accent1">
                <a:lumMod val="75000"/>
                <a:alpha val="94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圆角矩形 26">
            <a:extLst>
              <a:ext uri="{FF2B5EF4-FFF2-40B4-BE49-F238E27FC236}">
                <a16:creationId xmlns:a16="http://schemas.microsoft.com/office/drawing/2014/main" id="{EAF1333B-32F9-E253-E2AD-F3744ED7A210}"/>
              </a:ext>
            </a:extLst>
          </p:cNvPr>
          <p:cNvSpPr/>
          <p:nvPr/>
        </p:nvSpPr>
        <p:spPr>
          <a:xfrm>
            <a:off x="198406" y="3442586"/>
            <a:ext cx="1977037" cy="2329218"/>
          </a:xfrm>
          <a:prstGeom prst="roundRect">
            <a:avLst>
              <a:gd name="adj" fmla="val 12215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圆角矩形 26">
            <a:extLst>
              <a:ext uri="{FF2B5EF4-FFF2-40B4-BE49-F238E27FC236}">
                <a16:creationId xmlns:a16="http://schemas.microsoft.com/office/drawing/2014/main" id="{D4E2BF55-2FA7-70A1-F345-3AAB85621BA8}"/>
              </a:ext>
            </a:extLst>
          </p:cNvPr>
          <p:cNvSpPr/>
          <p:nvPr/>
        </p:nvSpPr>
        <p:spPr>
          <a:xfrm>
            <a:off x="240370" y="1759295"/>
            <a:ext cx="1935073" cy="1304572"/>
          </a:xfrm>
          <a:prstGeom prst="roundRect">
            <a:avLst>
              <a:gd name="adj" fmla="val 12215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圆角矩形 11">
            <a:extLst>
              <a:ext uri="{FF2B5EF4-FFF2-40B4-BE49-F238E27FC236}">
                <a16:creationId xmlns:a16="http://schemas.microsoft.com/office/drawing/2014/main" id="{03E85BF2-FBF3-1A15-141E-10B6ABB52600}"/>
              </a:ext>
            </a:extLst>
          </p:cNvPr>
          <p:cNvSpPr/>
          <p:nvPr/>
        </p:nvSpPr>
        <p:spPr>
          <a:xfrm>
            <a:off x="10233308" y="3721385"/>
            <a:ext cx="3634022" cy="2252068"/>
          </a:xfrm>
          <a:prstGeom prst="roundRect">
            <a:avLst>
              <a:gd name="adj" fmla="val 8580"/>
            </a:avLst>
          </a:prstGeom>
          <a:solidFill>
            <a:srgbClr val="FDE8E8"/>
          </a:solidFill>
          <a:ln w="28575">
            <a:solidFill>
              <a:srgbClr val="D21C4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19050">
                <a:solidFill>
                  <a:srgbClr val="CF2039"/>
                </a:solidFill>
              </a:ln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531F659-E8E9-7D82-5590-CF50F5AF1845}"/>
              </a:ext>
            </a:extLst>
          </p:cNvPr>
          <p:cNvSpPr/>
          <p:nvPr/>
        </p:nvSpPr>
        <p:spPr>
          <a:xfrm>
            <a:off x="963435" y="181383"/>
            <a:ext cx="403681" cy="37338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6" name="圆柱形 59">
            <a:extLst>
              <a:ext uri="{FF2B5EF4-FFF2-40B4-BE49-F238E27FC236}">
                <a16:creationId xmlns:a16="http://schemas.microsoft.com/office/drawing/2014/main" id="{B7FADD70-9A86-0CE5-B949-9B319FD5CAD0}"/>
              </a:ext>
            </a:extLst>
          </p:cNvPr>
          <p:cNvSpPr/>
          <p:nvPr/>
        </p:nvSpPr>
        <p:spPr>
          <a:xfrm>
            <a:off x="663836" y="3898412"/>
            <a:ext cx="1065135" cy="614681"/>
          </a:xfrm>
          <a:prstGeom prst="can">
            <a:avLst/>
          </a:prstGeom>
          <a:solidFill>
            <a:srgbClr val="B3D3F6"/>
          </a:solidFill>
          <a:ln w="19050">
            <a:solidFill>
              <a:srgbClr val="0756B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Round  S</a:t>
            </a:r>
          </a:p>
          <a:p>
            <a:pPr algn="ctr"/>
            <a:r>
              <a:rPr lang="en-US" altLang="zh-CN" sz="1200" i="1">
                <a:solidFill>
                  <a:schemeClr val="tx1"/>
                </a:solidFill>
              </a:rPr>
              <a:t>(Pre-state)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6F95B86-1856-3494-7153-5344B3F6D2CB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52510142"/>
              </p:ext>
            </p:extLst>
          </p:nvPr>
        </p:nvGraphicFramePr>
        <p:xfrm>
          <a:off x="717475" y="4576942"/>
          <a:ext cx="1415054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c1 (PK)</a:t>
                      </a:r>
                    </a:p>
                  </a:txBody>
                  <a:tcPr>
                    <a:solidFill>
                      <a:srgbClr val="D6E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c2</a:t>
                      </a:r>
                    </a:p>
                  </a:txBody>
                  <a:tcPr>
                    <a:solidFill>
                      <a:srgbClr val="D7E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</a:rPr>
                        <a:t>1</a:t>
                      </a:r>
                    </a:p>
                  </a:txBody>
                  <a:tcPr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</a:rPr>
                        <a:t>10</a:t>
                      </a:r>
                    </a:p>
                  </a:txBody>
                  <a:tcPr>
                    <a:solidFill>
                      <a:srgbClr val="F7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</a:rPr>
                        <a:t>2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</a:rPr>
                        <a:t>20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8BAB5F7-FA9B-5D50-AEDF-83F6244204E5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73388060"/>
              </p:ext>
            </p:extLst>
          </p:nvPr>
        </p:nvGraphicFramePr>
        <p:xfrm>
          <a:off x="250808" y="4579518"/>
          <a:ext cx="490632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t1</a:t>
                      </a:r>
                    </a:p>
                  </a:txBody>
                  <a:tcPr>
                    <a:solidFill>
                      <a:srgbClr val="045F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E4529FD1-2810-A79D-6D32-AFE64A7CDC9C}"/>
              </a:ext>
            </a:extLst>
          </p:cNvPr>
          <p:cNvSpPr txBox="1"/>
          <p:nvPr/>
        </p:nvSpPr>
        <p:spPr>
          <a:xfrm>
            <a:off x="240370" y="531508"/>
            <a:ext cx="1771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Database </a:t>
            </a:r>
          </a:p>
          <a:p>
            <a:pPr algn="ctr"/>
            <a:r>
              <a:rPr lang="en-US" altLang="zh-CN" b="1"/>
              <a:t>Initialization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A6573A5-FCC4-229D-285E-9820C73F64F5}"/>
              </a:ext>
            </a:extLst>
          </p:cNvPr>
          <p:cNvSpPr txBox="1"/>
          <p:nvPr/>
        </p:nvSpPr>
        <p:spPr>
          <a:xfrm>
            <a:off x="225451" y="1213486"/>
            <a:ext cx="1813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i="1"/>
              <a:t>Construct round state (pre-state)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E393F4-8D14-FF01-C2BA-0A95C8881A8F}"/>
              </a:ext>
            </a:extLst>
          </p:cNvPr>
          <p:cNvSpPr txBox="1"/>
          <p:nvPr/>
        </p:nvSpPr>
        <p:spPr>
          <a:xfrm>
            <a:off x="273769" y="3508095"/>
            <a:ext cx="1974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Initial Data Population</a:t>
            </a:r>
            <a:endParaRPr lang="zh-CN" altLang="en-US" sz="1400" b="1"/>
          </a:p>
        </p:txBody>
      </p:sp>
      <p:sp>
        <p:nvSpPr>
          <p:cNvPr id="12" name="圆角矩形 8">
            <a:extLst>
              <a:ext uri="{FF2B5EF4-FFF2-40B4-BE49-F238E27FC236}">
                <a16:creationId xmlns:a16="http://schemas.microsoft.com/office/drawing/2014/main" id="{F073D96E-38F9-AB0F-2316-142D15BF0CA3}"/>
              </a:ext>
            </a:extLst>
          </p:cNvPr>
          <p:cNvSpPr/>
          <p:nvPr/>
        </p:nvSpPr>
        <p:spPr>
          <a:xfrm>
            <a:off x="5146483" y="405943"/>
            <a:ext cx="2169676" cy="5553703"/>
          </a:xfrm>
          <a:prstGeom prst="roundRect">
            <a:avLst/>
          </a:prstGeom>
          <a:solidFill>
            <a:srgbClr val="FDF3E8"/>
          </a:solidFill>
          <a:ln w="28575">
            <a:solidFill>
              <a:srgbClr val="D55E0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74F3C06-BD2E-02F1-25EA-7ACB0F058340}"/>
              </a:ext>
            </a:extLst>
          </p:cNvPr>
          <p:cNvSpPr/>
          <p:nvPr/>
        </p:nvSpPr>
        <p:spPr>
          <a:xfrm>
            <a:off x="6049561" y="219255"/>
            <a:ext cx="412750" cy="373380"/>
          </a:xfrm>
          <a:prstGeom prst="ellipse">
            <a:avLst/>
          </a:prstGeom>
          <a:solidFill>
            <a:srgbClr val="D3620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</a:p>
        </p:txBody>
      </p:sp>
      <p:sp>
        <p:nvSpPr>
          <p:cNvPr id="14" name="圆角矩形 26">
            <a:extLst>
              <a:ext uri="{FF2B5EF4-FFF2-40B4-BE49-F238E27FC236}">
                <a16:creationId xmlns:a16="http://schemas.microsoft.com/office/drawing/2014/main" id="{35EFAAC1-9714-8B87-4927-0792B7106278}"/>
              </a:ext>
            </a:extLst>
          </p:cNvPr>
          <p:cNvSpPr/>
          <p:nvPr/>
        </p:nvSpPr>
        <p:spPr>
          <a:xfrm>
            <a:off x="5360138" y="1779430"/>
            <a:ext cx="1711469" cy="1722694"/>
          </a:xfrm>
          <a:prstGeom prst="roundRect">
            <a:avLst>
              <a:gd name="adj" fmla="val 12215"/>
            </a:avLst>
          </a:prstGeom>
          <a:solidFill>
            <a:srgbClr val="FCE6D2"/>
          </a:solidFill>
          <a:ln w="19050">
            <a:solidFill>
              <a:srgbClr val="F49E5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27">
            <a:extLst>
              <a:ext uri="{FF2B5EF4-FFF2-40B4-BE49-F238E27FC236}">
                <a16:creationId xmlns:a16="http://schemas.microsoft.com/office/drawing/2014/main" id="{A3D5F50A-BDB0-E020-B757-2BBF08B392AE}"/>
              </a:ext>
            </a:extLst>
          </p:cNvPr>
          <p:cNvSpPr/>
          <p:nvPr/>
        </p:nvSpPr>
        <p:spPr>
          <a:xfrm>
            <a:off x="5508244" y="2332054"/>
            <a:ext cx="1381125" cy="806969"/>
          </a:xfrm>
          <a:prstGeom prst="roundRect">
            <a:avLst/>
          </a:prstGeom>
          <a:solidFill>
            <a:srgbClr val="FDF6F1"/>
          </a:solidFill>
          <a:ln>
            <a:solidFill>
              <a:srgbClr val="F49C69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28">
            <a:extLst>
              <a:ext uri="{FF2B5EF4-FFF2-40B4-BE49-F238E27FC236}">
                <a16:creationId xmlns:a16="http://schemas.microsoft.com/office/drawing/2014/main" id="{2F06F97F-4AA8-6805-4705-65AED3CD45BF}"/>
              </a:ext>
            </a:extLst>
          </p:cNvPr>
          <p:cNvSpPr/>
          <p:nvPr/>
        </p:nvSpPr>
        <p:spPr>
          <a:xfrm>
            <a:off x="5360138" y="3839419"/>
            <a:ext cx="1688464" cy="1801404"/>
          </a:xfrm>
          <a:prstGeom prst="roundRect">
            <a:avLst>
              <a:gd name="adj" fmla="val 13357"/>
            </a:avLst>
          </a:prstGeom>
          <a:solidFill>
            <a:srgbClr val="E6DDF8"/>
          </a:solidFill>
          <a:ln w="19050">
            <a:solidFill>
              <a:srgbClr val="8B6EC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29">
            <a:extLst>
              <a:ext uri="{FF2B5EF4-FFF2-40B4-BE49-F238E27FC236}">
                <a16:creationId xmlns:a16="http://schemas.microsoft.com/office/drawing/2014/main" id="{5B4328E1-B2DE-6233-7F74-26C436924FAC}"/>
              </a:ext>
            </a:extLst>
          </p:cNvPr>
          <p:cNvSpPr/>
          <p:nvPr/>
        </p:nvSpPr>
        <p:spPr>
          <a:xfrm>
            <a:off x="5510279" y="4455232"/>
            <a:ext cx="1381125" cy="810261"/>
          </a:xfrm>
          <a:prstGeom prst="roundRect">
            <a:avLst/>
          </a:prstGeom>
          <a:solidFill>
            <a:srgbClr val="F8F5FD"/>
          </a:solidFill>
          <a:ln>
            <a:solidFill>
              <a:srgbClr val="6444BB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A9AE90B-3FF1-1DFA-DE42-F6CD47BE65C0}"/>
              </a:ext>
            </a:extLst>
          </p:cNvPr>
          <p:cNvSpPr txBox="1"/>
          <p:nvPr/>
        </p:nvSpPr>
        <p:spPr>
          <a:xfrm>
            <a:off x="5127600" y="554763"/>
            <a:ext cx="223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Approximate DML</a:t>
            </a:r>
          </a:p>
          <a:p>
            <a:pPr algn="ctr"/>
            <a:r>
              <a:rPr lang="en-US" altLang="zh-CN" b="1"/>
              <a:t>Synthesis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6DEBECC-71F2-59AB-923D-C19AB1CF2C45}"/>
              </a:ext>
            </a:extLst>
          </p:cNvPr>
          <p:cNvSpPr txBox="1"/>
          <p:nvPr/>
        </p:nvSpPr>
        <p:spPr>
          <a:xfrm>
            <a:off x="5129429" y="1217177"/>
            <a:ext cx="216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i="1"/>
              <a:t>Mutate the seed to create approxiamate DML mutants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A2759C-03B8-C548-3071-6D90FB98542B}"/>
              </a:ext>
            </a:extLst>
          </p:cNvPr>
          <p:cNvSpPr txBox="1"/>
          <p:nvPr/>
        </p:nvSpPr>
        <p:spPr>
          <a:xfrm>
            <a:off x="5506374" y="1762062"/>
            <a:ext cx="1428708" cy="55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 b="1"/>
              <a:t>Over-Approximate</a:t>
            </a:r>
          </a:p>
          <a:p>
            <a:pPr algn="ctr">
              <a:lnSpc>
                <a:spcPct val="120000"/>
              </a:lnSpc>
            </a:pPr>
            <a:r>
              <a:rPr lang="en-US" altLang="zh-CN" sz="1400" b="1" i="1">
                <a:solidFill>
                  <a:schemeClr val="accent2">
                    <a:lumMod val="75000"/>
                  </a:schemeClr>
                </a:solidFill>
              </a:rPr>
              <a:t>q_over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26C6AA7-FD2C-EAE3-FBE5-3F1D4280BD1C}"/>
              </a:ext>
            </a:extLst>
          </p:cNvPr>
          <p:cNvSpPr txBox="1"/>
          <p:nvPr/>
        </p:nvSpPr>
        <p:spPr>
          <a:xfrm>
            <a:off x="5470203" y="3860336"/>
            <a:ext cx="1525909" cy="55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 b="1"/>
              <a:t>Under-Approximate</a:t>
            </a:r>
          </a:p>
          <a:p>
            <a:pPr algn="ctr">
              <a:lnSpc>
                <a:spcPct val="120000"/>
              </a:lnSpc>
            </a:pPr>
            <a:r>
              <a:rPr lang="en-US" altLang="zh-CN" sz="1400" b="1" i="1">
                <a:solidFill>
                  <a:srgbClr val="7030A0"/>
                </a:solidFill>
              </a:rPr>
              <a:t>q_under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F17E7DD-3FB4-F114-8D57-1F3E96DE653E}"/>
              </a:ext>
            </a:extLst>
          </p:cNvPr>
          <p:cNvSpPr txBox="1"/>
          <p:nvPr/>
        </p:nvSpPr>
        <p:spPr>
          <a:xfrm>
            <a:off x="5420945" y="3174319"/>
            <a:ext cx="15995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i="1">
                <a:solidFill>
                  <a:schemeClr val="accent2">
                    <a:lumMod val="75000"/>
                  </a:schemeClr>
                </a:solidFill>
              </a:rPr>
              <a:t>(affects supersets)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E07502F-E21B-8304-B6F5-B00161975108}"/>
              </a:ext>
            </a:extLst>
          </p:cNvPr>
          <p:cNvSpPr txBox="1"/>
          <p:nvPr/>
        </p:nvSpPr>
        <p:spPr>
          <a:xfrm>
            <a:off x="5376448" y="5282973"/>
            <a:ext cx="15995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i="1">
                <a:solidFill>
                  <a:srgbClr val="7030A0"/>
                </a:solidFill>
              </a:rPr>
              <a:t>(affects subsets)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EC2BFCA-6937-4C49-BABF-18076FCE44E1}"/>
              </a:ext>
            </a:extLst>
          </p:cNvPr>
          <p:cNvSpPr txBox="1"/>
          <p:nvPr/>
        </p:nvSpPr>
        <p:spPr>
          <a:xfrm>
            <a:off x="5518297" y="2328762"/>
            <a:ext cx="138303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b="1"/>
              <a:t>UPDATE</a:t>
            </a:r>
            <a:r>
              <a:rPr lang="en-US" altLang="zh-CN" sz="1200"/>
              <a:t> t1</a:t>
            </a:r>
          </a:p>
          <a:p>
            <a:pPr>
              <a:lnSpc>
                <a:spcPct val="130000"/>
              </a:lnSpc>
            </a:pPr>
            <a:r>
              <a:rPr lang="en-US" altLang="zh-CN" sz="1200" b="1"/>
              <a:t>SET</a:t>
            </a:r>
            <a:r>
              <a:rPr lang="en-US" altLang="zh-CN" sz="1200"/>
              <a:t> c2 = c2 + 1</a:t>
            </a:r>
          </a:p>
          <a:p>
            <a:pPr>
              <a:lnSpc>
                <a:spcPct val="130000"/>
              </a:lnSpc>
            </a:pPr>
            <a:r>
              <a:rPr lang="en-US" altLang="zh-CN" sz="1200" b="1"/>
              <a:t>WHERE</a:t>
            </a:r>
            <a:r>
              <a:rPr lang="en-US" altLang="zh-CN" sz="1200"/>
              <a:t> c1 &gt;= 1;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FF819D6-A3CF-4B9A-1278-83776E53490D}"/>
              </a:ext>
            </a:extLst>
          </p:cNvPr>
          <p:cNvSpPr txBox="1"/>
          <p:nvPr/>
        </p:nvSpPr>
        <p:spPr>
          <a:xfrm>
            <a:off x="5592982" y="4437416"/>
            <a:ext cx="138303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b="1"/>
              <a:t>UPDATE</a:t>
            </a:r>
            <a:r>
              <a:rPr lang="en-US" altLang="zh-CN" sz="1200"/>
              <a:t> t1</a:t>
            </a:r>
          </a:p>
          <a:p>
            <a:pPr>
              <a:lnSpc>
                <a:spcPct val="130000"/>
              </a:lnSpc>
            </a:pPr>
            <a:r>
              <a:rPr lang="en-US" altLang="zh-CN" sz="1200" b="1"/>
              <a:t>SET</a:t>
            </a:r>
            <a:r>
              <a:rPr lang="en-US" altLang="zh-CN" sz="1200"/>
              <a:t> c2 = c2 + 1</a:t>
            </a:r>
          </a:p>
          <a:p>
            <a:pPr>
              <a:lnSpc>
                <a:spcPct val="130000"/>
              </a:lnSpc>
            </a:pPr>
            <a:r>
              <a:rPr lang="en-US" altLang="zh-CN" sz="1200" b="1"/>
              <a:t>WHERE</a:t>
            </a:r>
            <a:r>
              <a:rPr lang="en-US" altLang="zh-CN" sz="1200"/>
              <a:t> FALSE;</a:t>
            </a:r>
          </a:p>
        </p:txBody>
      </p:sp>
      <p:sp>
        <p:nvSpPr>
          <p:cNvPr id="26" name="圆角矩形 7">
            <a:extLst>
              <a:ext uri="{FF2B5EF4-FFF2-40B4-BE49-F238E27FC236}">
                <a16:creationId xmlns:a16="http://schemas.microsoft.com/office/drawing/2014/main" id="{A115F835-90D6-0CB4-1529-CA61B3D51B43}"/>
              </a:ext>
            </a:extLst>
          </p:cNvPr>
          <p:cNvSpPr/>
          <p:nvPr/>
        </p:nvSpPr>
        <p:spPr>
          <a:xfrm>
            <a:off x="2629531" y="439527"/>
            <a:ext cx="2152995" cy="5567713"/>
          </a:xfrm>
          <a:prstGeom prst="roundRect">
            <a:avLst/>
          </a:prstGeom>
          <a:solidFill>
            <a:srgbClr val="EFF9EF"/>
          </a:solidFill>
          <a:ln w="28575">
            <a:solidFill>
              <a:srgbClr val="237B3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9D853B67-9AE6-7004-6C69-C31F9DFA9967}"/>
              </a:ext>
            </a:extLst>
          </p:cNvPr>
          <p:cNvSpPr/>
          <p:nvPr/>
        </p:nvSpPr>
        <p:spPr>
          <a:xfrm>
            <a:off x="3507231" y="210995"/>
            <a:ext cx="385445" cy="373380"/>
          </a:xfrm>
          <a:prstGeom prst="ellipse">
            <a:avLst/>
          </a:prstGeom>
          <a:solidFill>
            <a:srgbClr val="227A3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</a:p>
        </p:txBody>
      </p:sp>
      <p:sp>
        <p:nvSpPr>
          <p:cNvPr id="28" name="圆角矩形 30">
            <a:extLst>
              <a:ext uri="{FF2B5EF4-FFF2-40B4-BE49-F238E27FC236}">
                <a16:creationId xmlns:a16="http://schemas.microsoft.com/office/drawing/2014/main" id="{373457C2-4276-2BFD-7C2D-152083AA4E1A}"/>
              </a:ext>
            </a:extLst>
          </p:cNvPr>
          <p:cNvSpPr/>
          <p:nvPr/>
        </p:nvSpPr>
        <p:spPr>
          <a:xfrm>
            <a:off x="2831555" y="3830807"/>
            <a:ext cx="1807456" cy="1827106"/>
          </a:xfrm>
          <a:prstGeom prst="roundRect">
            <a:avLst>
              <a:gd name="adj" fmla="val 6908"/>
            </a:avLst>
          </a:prstGeom>
          <a:noFill/>
          <a:ln w="28575">
            <a:solidFill>
              <a:srgbClr val="75B27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1683968-DB08-1A82-6981-0497743C3995}"/>
              </a:ext>
            </a:extLst>
          </p:cNvPr>
          <p:cNvSpPr txBox="1"/>
          <p:nvPr/>
        </p:nvSpPr>
        <p:spPr>
          <a:xfrm>
            <a:off x="2578692" y="545045"/>
            <a:ext cx="2212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Original DML </a:t>
            </a:r>
          </a:p>
          <a:p>
            <a:pPr algn="ctr"/>
            <a:r>
              <a:rPr lang="en-US" altLang="zh-CN" b="1"/>
              <a:t>Generation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663C2C8-1BB8-1645-7331-895931E90209}"/>
              </a:ext>
            </a:extLst>
          </p:cNvPr>
          <p:cNvSpPr txBox="1"/>
          <p:nvPr/>
        </p:nvSpPr>
        <p:spPr>
          <a:xfrm>
            <a:off x="2718605" y="1170354"/>
            <a:ext cx="190881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i="1"/>
              <a:t>Produce executable</a:t>
            </a:r>
          </a:p>
          <a:p>
            <a:pPr algn="ctr">
              <a:lnSpc>
                <a:spcPct val="120000"/>
              </a:lnSpc>
            </a:pPr>
            <a:r>
              <a:rPr lang="en-US" altLang="zh-CN" sz="1200" i="1"/>
              <a:t> DML statements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9459E7A-1242-2649-087E-2FF0190F5DCA}"/>
              </a:ext>
            </a:extLst>
          </p:cNvPr>
          <p:cNvSpPr txBox="1"/>
          <p:nvPr/>
        </p:nvSpPr>
        <p:spPr>
          <a:xfrm>
            <a:off x="2763221" y="3911019"/>
            <a:ext cx="18757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/>
              <a:t>Original Seed q</a:t>
            </a:r>
          </a:p>
        </p:txBody>
      </p:sp>
      <p:sp>
        <p:nvSpPr>
          <p:cNvPr id="32" name="圆角矩形 29">
            <a:extLst>
              <a:ext uri="{FF2B5EF4-FFF2-40B4-BE49-F238E27FC236}">
                <a16:creationId xmlns:a16="http://schemas.microsoft.com/office/drawing/2014/main" id="{56478819-DC2A-90D6-8C73-25CC98161CAE}"/>
              </a:ext>
            </a:extLst>
          </p:cNvPr>
          <p:cNvSpPr/>
          <p:nvPr/>
        </p:nvSpPr>
        <p:spPr>
          <a:xfrm>
            <a:off x="3029940" y="4428348"/>
            <a:ext cx="1381125" cy="948246"/>
          </a:xfrm>
          <a:prstGeom prst="roundRect">
            <a:avLst/>
          </a:prstGeom>
          <a:solidFill>
            <a:srgbClr val="F8F5FD"/>
          </a:solidFill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30E77A5-850A-18CE-3F87-D9C1BFDB9781}"/>
              </a:ext>
            </a:extLst>
          </p:cNvPr>
          <p:cNvSpPr txBox="1"/>
          <p:nvPr/>
        </p:nvSpPr>
        <p:spPr>
          <a:xfrm>
            <a:off x="3073350" y="4512838"/>
            <a:ext cx="1383030" cy="810260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b="1"/>
              <a:t>UPDATE</a:t>
            </a:r>
            <a:r>
              <a:rPr lang="en-US" altLang="zh-CN" sz="1200"/>
              <a:t> t1</a:t>
            </a:r>
          </a:p>
          <a:p>
            <a:pPr>
              <a:lnSpc>
                <a:spcPct val="130000"/>
              </a:lnSpc>
            </a:pPr>
            <a:r>
              <a:rPr lang="en-US" altLang="zh-CN" sz="1200" b="1"/>
              <a:t>SET</a:t>
            </a:r>
            <a:r>
              <a:rPr lang="en-US" altLang="zh-CN" sz="1200"/>
              <a:t> c2 = c2 + 1</a:t>
            </a:r>
          </a:p>
          <a:p>
            <a:pPr>
              <a:lnSpc>
                <a:spcPct val="130000"/>
              </a:lnSpc>
            </a:pPr>
            <a:r>
              <a:rPr lang="en-US" altLang="zh-CN" sz="1200" b="1"/>
              <a:t>WHERE</a:t>
            </a:r>
            <a:r>
              <a:rPr lang="en-US" altLang="zh-CN" sz="1200"/>
              <a:t> c1 &gt; 1;</a:t>
            </a:r>
          </a:p>
        </p:txBody>
      </p:sp>
      <p:sp>
        <p:nvSpPr>
          <p:cNvPr id="34" name="右箭头 14">
            <a:extLst>
              <a:ext uri="{FF2B5EF4-FFF2-40B4-BE49-F238E27FC236}">
                <a16:creationId xmlns:a16="http://schemas.microsoft.com/office/drawing/2014/main" id="{0CD6ECD3-79F9-034C-F190-CE65951A7006}"/>
              </a:ext>
            </a:extLst>
          </p:cNvPr>
          <p:cNvSpPr/>
          <p:nvPr/>
        </p:nvSpPr>
        <p:spPr>
          <a:xfrm>
            <a:off x="2299744" y="2328522"/>
            <a:ext cx="300990" cy="26479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右箭头 14">
            <a:extLst>
              <a:ext uri="{FF2B5EF4-FFF2-40B4-BE49-F238E27FC236}">
                <a16:creationId xmlns:a16="http://schemas.microsoft.com/office/drawing/2014/main" id="{C8E4A97D-4833-EC31-2348-0A96722B91B4}"/>
              </a:ext>
            </a:extLst>
          </p:cNvPr>
          <p:cNvSpPr/>
          <p:nvPr/>
        </p:nvSpPr>
        <p:spPr>
          <a:xfrm>
            <a:off x="4831003" y="2341326"/>
            <a:ext cx="300990" cy="26479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卷形: 水平 36">
            <a:extLst>
              <a:ext uri="{FF2B5EF4-FFF2-40B4-BE49-F238E27FC236}">
                <a16:creationId xmlns:a16="http://schemas.microsoft.com/office/drawing/2014/main" id="{20FB1CF4-A98D-6E4D-F66A-F08188D19431}"/>
              </a:ext>
            </a:extLst>
          </p:cNvPr>
          <p:cNvSpPr/>
          <p:nvPr/>
        </p:nvSpPr>
        <p:spPr>
          <a:xfrm>
            <a:off x="2726691" y="2099590"/>
            <a:ext cx="1982043" cy="1505319"/>
          </a:xfrm>
          <a:prstGeom prst="horizontalScroll">
            <a:avLst/>
          </a:prstGeom>
          <a:noFill/>
          <a:ln w="12700">
            <a:solidFill>
              <a:schemeClr val="accent4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57923999">
                  <a:custGeom>
                    <a:avLst/>
                    <a:gdLst>
                      <a:gd name="csX0" fmla="*/ 1686872 w 1686872"/>
                      <a:gd name="csY0" fmla="*/ 81277 h 1300437"/>
                      <a:gd name="csX1" fmla="*/ 1605595 w 1686872"/>
                      <a:gd name="csY1" fmla="*/ 162554 h 1300437"/>
                      <a:gd name="csX2" fmla="*/ 1605595 w 1686872"/>
                      <a:gd name="csY2" fmla="*/ 81277 h 1300437"/>
                      <a:gd name="csX3" fmla="*/ 1564956 w 1686872"/>
                      <a:gd name="csY3" fmla="*/ 121916 h 1300437"/>
                      <a:gd name="csX4" fmla="*/ 1524317 w 1686872"/>
                      <a:gd name="csY4" fmla="*/ 81277 h 1300437"/>
                      <a:gd name="csX5" fmla="*/ 1524317 w 1686872"/>
                      <a:gd name="csY5" fmla="*/ 162555 h 1300437"/>
                      <a:gd name="csX6" fmla="*/ 1014443 w 1686872"/>
                      <a:gd name="csY6" fmla="*/ 162555 h 1300437"/>
                      <a:gd name="csX7" fmla="*/ 504569 w 1686872"/>
                      <a:gd name="csY7" fmla="*/ 162555 h 1300437"/>
                      <a:gd name="csX8" fmla="*/ 81277 w 1686872"/>
                      <a:gd name="csY8" fmla="*/ 162555 h 1300437"/>
                      <a:gd name="csX9" fmla="*/ 0 w 1686872"/>
                      <a:gd name="csY9" fmla="*/ 243832 h 1300437"/>
                      <a:gd name="csX10" fmla="*/ 0 w 1686872"/>
                      <a:gd name="csY10" fmla="*/ 702236 h 1300437"/>
                      <a:gd name="csX11" fmla="*/ 0 w 1686872"/>
                      <a:gd name="csY11" fmla="*/ 1219160 h 1300437"/>
                      <a:gd name="csX12" fmla="*/ 81277 w 1686872"/>
                      <a:gd name="csY12" fmla="*/ 1300437 h 1300437"/>
                      <a:gd name="csX13" fmla="*/ 162554 w 1686872"/>
                      <a:gd name="csY13" fmla="*/ 1219160 h 1300437"/>
                      <a:gd name="csX14" fmla="*/ 162555 w 1686872"/>
                      <a:gd name="csY14" fmla="*/ 1137882 h 1300437"/>
                      <a:gd name="csX15" fmla="*/ 629138 w 1686872"/>
                      <a:gd name="csY15" fmla="*/ 1137882 h 1300437"/>
                      <a:gd name="csX16" fmla="*/ 1139012 w 1686872"/>
                      <a:gd name="csY16" fmla="*/ 1137882 h 1300437"/>
                      <a:gd name="csX17" fmla="*/ 1605595 w 1686872"/>
                      <a:gd name="csY17" fmla="*/ 1137882 h 1300437"/>
                      <a:gd name="csX18" fmla="*/ 1686872 w 1686872"/>
                      <a:gd name="csY18" fmla="*/ 1056605 h 1300437"/>
                      <a:gd name="csX19" fmla="*/ 1686872 w 1686872"/>
                      <a:gd name="csY19" fmla="*/ 598201 h 1300437"/>
                      <a:gd name="csX20" fmla="*/ 1686872 w 1686872"/>
                      <a:gd name="csY20" fmla="*/ 81277 h 1300437"/>
                      <a:gd name="csX21" fmla="*/ 81277 w 1686872"/>
                      <a:gd name="csY21" fmla="*/ 325109 h 1300437"/>
                      <a:gd name="csX22" fmla="*/ 162554 w 1686872"/>
                      <a:gd name="csY22" fmla="*/ 243832 h 1300437"/>
                      <a:gd name="csX23" fmla="*/ 121915 w 1686872"/>
                      <a:gd name="csY23" fmla="*/ 203193 h 1300437"/>
                      <a:gd name="csX24" fmla="*/ 81276 w 1686872"/>
                      <a:gd name="csY24" fmla="*/ 243832 h 1300437"/>
                      <a:gd name="csX25" fmla="*/ 81277 w 1686872"/>
                      <a:gd name="csY25" fmla="*/ 325109 h 1300437"/>
                      <a:gd name="csX0" fmla="*/ 81277 w 1686872"/>
                      <a:gd name="csY0" fmla="*/ 325109 h 1300437"/>
                      <a:gd name="csX1" fmla="*/ 162554 w 1686872"/>
                      <a:gd name="csY1" fmla="*/ 243832 h 1300437"/>
                      <a:gd name="csX2" fmla="*/ 121915 w 1686872"/>
                      <a:gd name="csY2" fmla="*/ 203193 h 1300437"/>
                      <a:gd name="csX3" fmla="*/ 81276 w 1686872"/>
                      <a:gd name="csY3" fmla="*/ 243832 h 1300437"/>
                      <a:gd name="csX4" fmla="*/ 81277 w 1686872"/>
                      <a:gd name="csY4" fmla="*/ 325109 h 1300437"/>
                      <a:gd name="csX5" fmla="*/ 1605595 w 1686872"/>
                      <a:gd name="csY5" fmla="*/ 162555 h 1300437"/>
                      <a:gd name="csX6" fmla="*/ 1686872 w 1686872"/>
                      <a:gd name="csY6" fmla="*/ 81278 h 1300437"/>
                      <a:gd name="csX7" fmla="*/ 1605595 w 1686872"/>
                      <a:gd name="csY7" fmla="*/ 1 h 1300437"/>
                      <a:gd name="csX8" fmla="*/ 1524318 w 1686872"/>
                      <a:gd name="csY8" fmla="*/ 81278 h 1300437"/>
                      <a:gd name="csX9" fmla="*/ 1564957 w 1686872"/>
                      <a:gd name="csY9" fmla="*/ 121917 h 1300437"/>
                      <a:gd name="csX10" fmla="*/ 1605596 w 1686872"/>
                      <a:gd name="csY10" fmla="*/ 81278 h 1300437"/>
                      <a:gd name="csX11" fmla="*/ 1605595 w 1686872"/>
                      <a:gd name="csY11" fmla="*/ 162555 h 1300437"/>
                      <a:gd name="csX0" fmla="*/ 0 w 1686872"/>
                      <a:gd name="csY0" fmla="*/ 243832 h 1300437"/>
                      <a:gd name="csX1" fmla="*/ 81277 w 1686872"/>
                      <a:gd name="csY1" fmla="*/ 162555 h 1300437"/>
                      <a:gd name="csX2" fmla="*/ 547860 w 1686872"/>
                      <a:gd name="csY2" fmla="*/ 162555 h 1300437"/>
                      <a:gd name="csX3" fmla="*/ 1057734 w 1686872"/>
                      <a:gd name="csY3" fmla="*/ 162555 h 1300437"/>
                      <a:gd name="csX4" fmla="*/ 1524317 w 1686872"/>
                      <a:gd name="csY4" fmla="*/ 162555 h 1300437"/>
                      <a:gd name="csX5" fmla="*/ 1524317 w 1686872"/>
                      <a:gd name="csY5" fmla="*/ 81277 h 1300437"/>
                      <a:gd name="csX6" fmla="*/ 1605594 w 1686872"/>
                      <a:gd name="csY6" fmla="*/ 0 h 1300437"/>
                      <a:gd name="csX7" fmla="*/ 1686871 w 1686872"/>
                      <a:gd name="csY7" fmla="*/ 81277 h 1300437"/>
                      <a:gd name="csX8" fmla="*/ 1686872 w 1686872"/>
                      <a:gd name="csY8" fmla="*/ 1056605 h 1300437"/>
                      <a:gd name="csX9" fmla="*/ 1605595 w 1686872"/>
                      <a:gd name="csY9" fmla="*/ 1137882 h 1300437"/>
                      <a:gd name="csX10" fmla="*/ 1124582 w 1686872"/>
                      <a:gd name="csY10" fmla="*/ 1137882 h 1300437"/>
                      <a:gd name="csX11" fmla="*/ 686860 w 1686872"/>
                      <a:gd name="csY11" fmla="*/ 1137882 h 1300437"/>
                      <a:gd name="csX12" fmla="*/ 162555 w 1686872"/>
                      <a:gd name="csY12" fmla="*/ 1137882 h 1300437"/>
                      <a:gd name="csX13" fmla="*/ 162555 w 1686872"/>
                      <a:gd name="csY13" fmla="*/ 1219160 h 1300437"/>
                      <a:gd name="csX14" fmla="*/ 81278 w 1686872"/>
                      <a:gd name="csY14" fmla="*/ 1300437 h 1300437"/>
                      <a:gd name="csX15" fmla="*/ 1 w 1686872"/>
                      <a:gd name="csY15" fmla="*/ 1219160 h 1300437"/>
                      <a:gd name="csX16" fmla="*/ 0 w 1686872"/>
                      <a:gd name="csY16" fmla="*/ 243832 h 1300437"/>
                      <a:gd name="csX17" fmla="*/ 1524317 w 1686872"/>
                      <a:gd name="csY17" fmla="*/ 162555 h 1300437"/>
                      <a:gd name="csX18" fmla="*/ 1605595 w 1686872"/>
                      <a:gd name="csY18" fmla="*/ 162555 h 1300437"/>
                      <a:gd name="csX19" fmla="*/ 1686872 w 1686872"/>
                      <a:gd name="csY19" fmla="*/ 81278 h 1300437"/>
                      <a:gd name="csX20" fmla="*/ 1605595 w 1686872"/>
                      <a:gd name="csY20" fmla="*/ 162555 h 1300437"/>
                      <a:gd name="csX21" fmla="*/ 1605595 w 1686872"/>
                      <a:gd name="csY21" fmla="*/ 81277 h 1300437"/>
                      <a:gd name="csX22" fmla="*/ 1564956 w 1686872"/>
                      <a:gd name="csY22" fmla="*/ 121916 h 1300437"/>
                      <a:gd name="csX23" fmla="*/ 1524317 w 1686872"/>
                      <a:gd name="csY23" fmla="*/ 81277 h 1300437"/>
                      <a:gd name="csX24" fmla="*/ 81277 w 1686872"/>
                      <a:gd name="csY24" fmla="*/ 325109 h 1300437"/>
                      <a:gd name="csX25" fmla="*/ 81277 w 1686872"/>
                      <a:gd name="csY25" fmla="*/ 243832 h 1300437"/>
                      <a:gd name="csX26" fmla="*/ 121916 w 1686872"/>
                      <a:gd name="csY26" fmla="*/ 203193 h 1300437"/>
                      <a:gd name="csX27" fmla="*/ 162555 w 1686872"/>
                      <a:gd name="csY27" fmla="*/ 243832 h 1300437"/>
                      <a:gd name="csX28" fmla="*/ 81278 w 1686872"/>
                      <a:gd name="csY28" fmla="*/ 325109 h 1300437"/>
                      <a:gd name="csX29" fmla="*/ 1 w 1686872"/>
                      <a:gd name="csY29" fmla="*/ 243832 h 1300437"/>
                      <a:gd name="csX30" fmla="*/ 162555 w 1686872"/>
                      <a:gd name="csY30" fmla="*/ 243832 h 1300437"/>
                      <a:gd name="csX31" fmla="*/ 162555 w 1686872"/>
                      <a:gd name="csY31" fmla="*/ 690857 h 1300437"/>
                      <a:gd name="csX32" fmla="*/ 162555 w 1686872"/>
                      <a:gd name="csY32" fmla="*/ 1137882 h 130043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</a:cxnLst>
                    <a:rect l="l" t="t" r="r" b="b"/>
                    <a:pathLst>
                      <a:path w="1686872" h="1300437" stroke="0" extrusionOk="0">
                        <a:moveTo>
                          <a:pt x="1686872" y="81277"/>
                        </a:moveTo>
                        <a:cubicBezTo>
                          <a:pt x="1677894" y="124834"/>
                          <a:pt x="1642666" y="156725"/>
                          <a:pt x="1605595" y="162554"/>
                        </a:cubicBezTo>
                        <a:cubicBezTo>
                          <a:pt x="1606266" y="127197"/>
                          <a:pt x="1608964" y="110463"/>
                          <a:pt x="1605595" y="81277"/>
                        </a:cubicBezTo>
                        <a:cubicBezTo>
                          <a:pt x="1605137" y="106300"/>
                          <a:pt x="1585131" y="120882"/>
                          <a:pt x="1564956" y="121916"/>
                        </a:cubicBezTo>
                        <a:cubicBezTo>
                          <a:pt x="1542989" y="117903"/>
                          <a:pt x="1521595" y="105238"/>
                          <a:pt x="1524317" y="81277"/>
                        </a:cubicBezTo>
                        <a:cubicBezTo>
                          <a:pt x="1524885" y="114887"/>
                          <a:pt x="1522276" y="135920"/>
                          <a:pt x="1524317" y="162555"/>
                        </a:cubicBezTo>
                        <a:cubicBezTo>
                          <a:pt x="1283276" y="165890"/>
                          <a:pt x="1187396" y="151968"/>
                          <a:pt x="1014443" y="162555"/>
                        </a:cubicBezTo>
                        <a:cubicBezTo>
                          <a:pt x="841490" y="173142"/>
                          <a:pt x="751223" y="163218"/>
                          <a:pt x="504569" y="162555"/>
                        </a:cubicBezTo>
                        <a:cubicBezTo>
                          <a:pt x="257915" y="161892"/>
                          <a:pt x="180596" y="174712"/>
                          <a:pt x="81277" y="162555"/>
                        </a:cubicBezTo>
                        <a:cubicBezTo>
                          <a:pt x="34016" y="159426"/>
                          <a:pt x="-1858" y="204992"/>
                          <a:pt x="0" y="243832"/>
                        </a:cubicBezTo>
                        <a:cubicBezTo>
                          <a:pt x="-8002" y="403108"/>
                          <a:pt x="19754" y="530138"/>
                          <a:pt x="0" y="702236"/>
                        </a:cubicBezTo>
                        <a:cubicBezTo>
                          <a:pt x="-19754" y="874334"/>
                          <a:pt x="-25556" y="1035913"/>
                          <a:pt x="0" y="1219160"/>
                        </a:cubicBezTo>
                        <a:cubicBezTo>
                          <a:pt x="-5446" y="1263607"/>
                          <a:pt x="41419" y="1305028"/>
                          <a:pt x="81277" y="1300437"/>
                        </a:cubicBezTo>
                        <a:cubicBezTo>
                          <a:pt x="128199" y="1299715"/>
                          <a:pt x="161092" y="1255210"/>
                          <a:pt x="162554" y="1219160"/>
                        </a:cubicBezTo>
                        <a:cubicBezTo>
                          <a:pt x="165383" y="1188626"/>
                          <a:pt x="159528" y="1169893"/>
                          <a:pt x="162555" y="1137882"/>
                        </a:cubicBezTo>
                        <a:cubicBezTo>
                          <a:pt x="274406" y="1118162"/>
                          <a:pt x="490509" y="1149095"/>
                          <a:pt x="629138" y="1137882"/>
                        </a:cubicBezTo>
                        <a:cubicBezTo>
                          <a:pt x="767767" y="1126669"/>
                          <a:pt x="954431" y="1151253"/>
                          <a:pt x="1139012" y="1137882"/>
                        </a:cubicBezTo>
                        <a:cubicBezTo>
                          <a:pt x="1323593" y="1124511"/>
                          <a:pt x="1424365" y="1127757"/>
                          <a:pt x="1605595" y="1137882"/>
                        </a:cubicBezTo>
                        <a:cubicBezTo>
                          <a:pt x="1653876" y="1137593"/>
                          <a:pt x="1690039" y="1109151"/>
                          <a:pt x="1686872" y="1056605"/>
                        </a:cubicBezTo>
                        <a:cubicBezTo>
                          <a:pt x="1685510" y="885041"/>
                          <a:pt x="1709335" y="693743"/>
                          <a:pt x="1686872" y="598201"/>
                        </a:cubicBezTo>
                        <a:cubicBezTo>
                          <a:pt x="1664409" y="502659"/>
                          <a:pt x="1702591" y="270469"/>
                          <a:pt x="1686872" y="81277"/>
                        </a:cubicBezTo>
                        <a:close/>
                        <a:moveTo>
                          <a:pt x="81277" y="325109"/>
                        </a:moveTo>
                        <a:cubicBezTo>
                          <a:pt x="119538" y="329672"/>
                          <a:pt x="155996" y="290410"/>
                          <a:pt x="162554" y="243832"/>
                        </a:cubicBezTo>
                        <a:cubicBezTo>
                          <a:pt x="162668" y="217753"/>
                          <a:pt x="146640" y="201789"/>
                          <a:pt x="121915" y="203193"/>
                        </a:cubicBezTo>
                        <a:cubicBezTo>
                          <a:pt x="95239" y="205309"/>
                          <a:pt x="81697" y="220291"/>
                          <a:pt x="81276" y="243832"/>
                        </a:cubicBezTo>
                        <a:cubicBezTo>
                          <a:pt x="82270" y="268149"/>
                          <a:pt x="78478" y="296873"/>
                          <a:pt x="81277" y="325109"/>
                        </a:cubicBezTo>
                        <a:close/>
                      </a:path>
                      <a:path w="1686872" h="1300437" fill="darkenLess" stroke="0" extrusionOk="0">
                        <a:moveTo>
                          <a:pt x="81277" y="325109"/>
                        </a:moveTo>
                        <a:cubicBezTo>
                          <a:pt x="120990" y="330104"/>
                          <a:pt x="163754" y="286848"/>
                          <a:pt x="162554" y="243832"/>
                        </a:cubicBezTo>
                        <a:cubicBezTo>
                          <a:pt x="162713" y="221997"/>
                          <a:pt x="145105" y="203202"/>
                          <a:pt x="121915" y="203193"/>
                        </a:cubicBezTo>
                        <a:cubicBezTo>
                          <a:pt x="96230" y="205675"/>
                          <a:pt x="81292" y="220588"/>
                          <a:pt x="81276" y="243832"/>
                        </a:cubicBezTo>
                        <a:cubicBezTo>
                          <a:pt x="76051" y="272900"/>
                          <a:pt x="82911" y="299641"/>
                          <a:pt x="81277" y="325109"/>
                        </a:cubicBezTo>
                        <a:close/>
                        <a:moveTo>
                          <a:pt x="1605595" y="162555"/>
                        </a:moveTo>
                        <a:cubicBezTo>
                          <a:pt x="1658239" y="163967"/>
                          <a:pt x="1678270" y="130765"/>
                          <a:pt x="1686872" y="81278"/>
                        </a:cubicBezTo>
                        <a:cubicBezTo>
                          <a:pt x="1696091" y="41389"/>
                          <a:pt x="1646202" y="8999"/>
                          <a:pt x="1605595" y="1"/>
                        </a:cubicBezTo>
                        <a:cubicBezTo>
                          <a:pt x="1558389" y="-8208"/>
                          <a:pt x="1521981" y="27590"/>
                          <a:pt x="1524318" y="81278"/>
                        </a:cubicBezTo>
                        <a:cubicBezTo>
                          <a:pt x="1527983" y="100690"/>
                          <a:pt x="1540309" y="127022"/>
                          <a:pt x="1564957" y="121917"/>
                        </a:cubicBezTo>
                        <a:cubicBezTo>
                          <a:pt x="1589089" y="119484"/>
                          <a:pt x="1606403" y="105785"/>
                          <a:pt x="1605596" y="81278"/>
                        </a:cubicBezTo>
                        <a:cubicBezTo>
                          <a:pt x="1607419" y="113586"/>
                          <a:pt x="1608952" y="135403"/>
                          <a:pt x="1605595" y="162555"/>
                        </a:cubicBezTo>
                        <a:close/>
                      </a:path>
                      <a:path w="1686872" h="1300437" fill="none" extrusionOk="0">
                        <a:moveTo>
                          <a:pt x="0" y="243832"/>
                        </a:moveTo>
                        <a:cubicBezTo>
                          <a:pt x="9160" y="192747"/>
                          <a:pt x="36756" y="164824"/>
                          <a:pt x="81277" y="162555"/>
                        </a:cubicBezTo>
                        <a:cubicBezTo>
                          <a:pt x="182868" y="149750"/>
                          <a:pt x="399411" y="166397"/>
                          <a:pt x="547860" y="162555"/>
                        </a:cubicBezTo>
                        <a:cubicBezTo>
                          <a:pt x="696309" y="158713"/>
                          <a:pt x="940483" y="164916"/>
                          <a:pt x="1057734" y="162555"/>
                        </a:cubicBezTo>
                        <a:cubicBezTo>
                          <a:pt x="1174985" y="160194"/>
                          <a:pt x="1411082" y="150912"/>
                          <a:pt x="1524317" y="162555"/>
                        </a:cubicBezTo>
                        <a:cubicBezTo>
                          <a:pt x="1522305" y="130542"/>
                          <a:pt x="1522736" y="97811"/>
                          <a:pt x="1524317" y="81277"/>
                        </a:cubicBezTo>
                        <a:cubicBezTo>
                          <a:pt x="1519150" y="35324"/>
                          <a:pt x="1558063" y="5380"/>
                          <a:pt x="1605594" y="0"/>
                        </a:cubicBezTo>
                        <a:cubicBezTo>
                          <a:pt x="1653946" y="4069"/>
                          <a:pt x="1682637" y="40692"/>
                          <a:pt x="1686871" y="81277"/>
                        </a:cubicBezTo>
                        <a:cubicBezTo>
                          <a:pt x="1608818" y="399718"/>
                          <a:pt x="1700539" y="709774"/>
                          <a:pt x="1686872" y="1056605"/>
                        </a:cubicBezTo>
                        <a:cubicBezTo>
                          <a:pt x="1688336" y="1103544"/>
                          <a:pt x="1652838" y="1143402"/>
                          <a:pt x="1605595" y="1137882"/>
                        </a:cubicBezTo>
                        <a:cubicBezTo>
                          <a:pt x="1389945" y="1152704"/>
                          <a:pt x="1321719" y="1126287"/>
                          <a:pt x="1124582" y="1137882"/>
                        </a:cubicBezTo>
                        <a:cubicBezTo>
                          <a:pt x="927445" y="1149477"/>
                          <a:pt x="876576" y="1134742"/>
                          <a:pt x="686860" y="1137882"/>
                        </a:cubicBezTo>
                        <a:cubicBezTo>
                          <a:pt x="497144" y="1141022"/>
                          <a:pt x="336103" y="1130866"/>
                          <a:pt x="162555" y="1137882"/>
                        </a:cubicBezTo>
                        <a:cubicBezTo>
                          <a:pt x="162232" y="1159312"/>
                          <a:pt x="161255" y="1184476"/>
                          <a:pt x="162555" y="1219160"/>
                        </a:cubicBezTo>
                        <a:cubicBezTo>
                          <a:pt x="153903" y="1269447"/>
                          <a:pt x="134665" y="1298724"/>
                          <a:pt x="81278" y="1300437"/>
                        </a:cubicBezTo>
                        <a:cubicBezTo>
                          <a:pt x="30773" y="1297952"/>
                          <a:pt x="-1107" y="1266239"/>
                          <a:pt x="1" y="1219160"/>
                        </a:cubicBezTo>
                        <a:cubicBezTo>
                          <a:pt x="23574" y="925907"/>
                          <a:pt x="11805" y="551899"/>
                          <a:pt x="0" y="243832"/>
                        </a:cubicBezTo>
                        <a:close/>
                        <a:moveTo>
                          <a:pt x="1524317" y="162555"/>
                        </a:moveTo>
                        <a:cubicBezTo>
                          <a:pt x="1560589" y="163455"/>
                          <a:pt x="1584924" y="164899"/>
                          <a:pt x="1605595" y="162555"/>
                        </a:cubicBezTo>
                        <a:cubicBezTo>
                          <a:pt x="1654063" y="172482"/>
                          <a:pt x="1687964" y="124920"/>
                          <a:pt x="1686872" y="81278"/>
                        </a:cubicBezTo>
                        <a:moveTo>
                          <a:pt x="1605595" y="162555"/>
                        </a:moveTo>
                        <a:cubicBezTo>
                          <a:pt x="1609362" y="140201"/>
                          <a:pt x="1601604" y="120012"/>
                          <a:pt x="1605595" y="81277"/>
                        </a:cubicBezTo>
                        <a:cubicBezTo>
                          <a:pt x="1606628" y="108525"/>
                          <a:pt x="1587299" y="120176"/>
                          <a:pt x="1564956" y="121916"/>
                        </a:cubicBezTo>
                        <a:cubicBezTo>
                          <a:pt x="1541722" y="123009"/>
                          <a:pt x="1523783" y="100947"/>
                          <a:pt x="1524317" y="81277"/>
                        </a:cubicBezTo>
                        <a:moveTo>
                          <a:pt x="81277" y="325109"/>
                        </a:moveTo>
                        <a:cubicBezTo>
                          <a:pt x="77921" y="292706"/>
                          <a:pt x="81358" y="267297"/>
                          <a:pt x="81277" y="243832"/>
                        </a:cubicBezTo>
                        <a:cubicBezTo>
                          <a:pt x="80742" y="223337"/>
                          <a:pt x="102493" y="201434"/>
                          <a:pt x="121916" y="203193"/>
                        </a:cubicBezTo>
                        <a:cubicBezTo>
                          <a:pt x="146241" y="201624"/>
                          <a:pt x="159065" y="221144"/>
                          <a:pt x="162555" y="243832"/>
                        </a:cubicBezTo>
                        <a:cubicBezTo>
                          <a:pt x="164883" y="291907"/>
                          <a:pt x="122998" y="328786"/>
                          <a:pt x="81278" y="325109"/>
                        </a:cubicBezTo>
                        <a:cubicBezTo>
                          <a:pt x="41243" y="325407"/>
                          <a:pt x="-2138" y="291027"/>
                          <a:pt x="1" y="243832"/>
                        </a:cubicBezTo>
                        <a:moveTo>
                          <a:pt x="162555" y="243832"/>
                        </a:moveTo>
                        <a:cubicBezTo>
                          <a:pt x="156419" y="418923"/>
                          <a:pt x="146054" y="525448"/>
                          <a:pt x="162555" y="690857"/>
                        </a:cubicBezTo>
                        <a:cubicBezTo>
                          <a:pt x="179056" y="856267"/>
                          <a:pt x="172691" y="971115"/>
                          <a:pt x="162555" y="1137882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24C5DC0-A37C-79EC-CC6F-06015769BE38}"/>
              </a:ext>
            </a:extLst>
          </p:cNvPr>
          <p:cNvSpPr txBox="1"/>
          <p:nvPr/>
        </p:nvSpPr>
        <p:spPr>
          <a:xfrm>
            <a:off x="2660711" y="1749880"/>
            <a:ext cx="2062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/>
              <a:t>Generation &amp; Instantiation</a:t>
            </a:r>
          </a:p>
        </p:txBody>
      </p: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FAE66717-A799-229D-C18E-F91C60A01931}"/>
              </a:ext>
            </a:extLst>
          </p:cNvPr>
          <p:cNvGrpSpPr/>
          <p:nvPr/>
        </p:nvGrpSpPr>
        <p:grpSpPr>
          <a:xfrm>
            <a:off x="2997890" y="2400661"/>
            <a:ext cx="1783900" cy="829875"/>
            <a:chOff x="3022257" y="2787288"/>
            <a:chExt cx="1783900" cy="829875"/>
          </a:xfrm>
        </p:grpSpPr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48060C1D-784C-47CF-902F-C5A9B28A5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2257" y="2813992"/>
              <a:ext cx="237607" cy="237607"/>
            </a:xfrm>
            <a:prstGeom prst="rect">
              <a:avLst/>
            </a:prstGeom>
          </p:spPr>
        </p:pic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94D0E6D4-9694-15E9-D199-536FADB75821}"/>
                </a:ext>
              </a:extLst>
            </p:cNvPr>
            <p:cNvGrpSpPr/>
            <p:nvPr/>
          </p:nvGrpSpPr>
          <p:grpSpPr>
            <a:xfrm>
              <a:off x="3025292" y="2787288"/>
              <a:ext cx="1780865" cy="829875"/>
              <a:chOff x="3025292" y="2787288"/>
              <a:chExt cx="1780865" cy="829875"/>
            </a:xfrm>
          </p:grpSpPr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BAA0F47B-7A5B-6330-8D38-2F826C22CE75}"/>
                  </a:ext>
                </a:extLst>
              </p:cNvPr>
              <p:cNvSpPr txBox="1"/>
              <p:nvPr/>
            </p:nvSpPr>
            <p:spPr>
              <a:xfrm>
                <a:off x="3221197" y="2787288"/>
                <a:ext cx="15849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/>
                  <a:t>BNF subset</a:t>
                </a:r>
                <a:endParaRPr lang="zh-CN" altLang="en-US" sz="1100"/>
              </a:p>
            </p:txBody>
          </p:sp>
          <p:pic>
            <p:nvPicPr>
              <p:cNvPr id="41" name="图片 40">
                <a:extLst>
                  <a:ext uri="{FF2B5EF4-FFF2-40B4-BE49-F238E27FC236}">
                    <a16:creationId xmlns:a16="http://schemas.microsoft.com/office/drawing/2014/main" id="{F0876198-B460-0952-E545-05E8AB8506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25292" y="3090991"/>
                <a:ext cx="237607" cy="237607"/>
              </a:xfrm>
              <a:prstGeom prst="rect">
                <a:avLst/>
              </a:prstGeom>
            </p:spPr>
          </p:pic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D22B1E38-8BFE-4AD8-65C4-1C3C93FFE92C}"/>
                  </a:ext>
                </a:extLst>
              </p:cNvPr>
              <p:cNvSpPr txBox="1"/>
              <p:nvPr/>
            </p:nvSpPr>
            <p:spPr>
              <a:xfrm>
                <a:off x="3202797" y="3065166"/>
                <a:ext cx="15849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/>
                  <a:t>Fresh/valid primary keys</a:t>
                </a:r>
                <a:endParaRPr lang="zh-CN" altLang="en-US" sz="1100"/>
              </a:p>
            </p:txBody>
          </p:sp>
          <p:pic>
            <p:nvPicPr>
              <p:cNvPr id="43" name="图片 42">
                <a:extLst>
                  <a:ext uri="{FF2B5EF4-FFF2-40B4-BE49-F238E27FC236}">
                    <a16:creationId xmlns:a16="http://schemas.microsoft.com/office/drawing/2014/main" id="{98CB7573-89CC-2D43-74BD-8B6D7746E0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35172" y="3374785"/>
                <a:ext cx="237607" cy="237607"/>
              </a:xfrm>
              <a:prstGeom prst="rect">
                <a:avLst/>
              </a:prstGeom>
            </p:spPr>
          </p:pic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123CEBEE-45F9-BAD4-8FA7-B7B0A21DDBDD}"/>
                  </a:ext>
                </a:extLst>
              </p:cNvPr>
              <p:cNvSpPr txBox="1"/>
              <p:nvPr/>
            </p:nvSpPr>
            <p:spPr>
              <a:xfrm>
                <a:off x="3210530" y="3355553"/>
                <a:ext cx="15849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/>
                  <a:t>Stable join anchors</a:t>
                </a:r>
                <a:endParaRPr lang="zh-CN" altLang="en-US" sz="1100"/>
              </a:p>
            </p:txBody>
          </p:sp>
        </p:grpSp>
      </p:grpSp>
      <p:sp>
        <p:nvSpPr>
          <p:cNvPr id="45" name="圆角矩形 9">
            <a:extLst>
              <a:ext uri="{FF2B5EF4-FFF2-40B4-BE49-F238E27FC236}">
                <a16:creationId xmlns:a16="http://schemas.microsoft.com/office/drawing/2014/main" id="{50D06208-022D-8AB2-AC60-50F9FFC2BAA6}"/>
              </a:ext>
            </a:extLst>
          </p:cNvPr>
          <p:cNvSpPr/>
          <p:nvPr/>
        </p:nvSpPr>
        <p:spPr>
          <a:xfrm>
            <a:off x="7697235" y="419750"/>
            <a:ext cx="2165985" cy="5553703"/>
          </a:xfrm>
          <a:prstGeom prst="roundRect">
            <a:avLst/>
          </a:prstGeom>
          <a:solidFill>
            <a:srgbClr val="E6DDF8"/>
          </a:solidFill>
          <a:ln w="28575">
            <a:solidFill>
              <a:srgbClr val="4E268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D0E444A0-5970-028D-F72A-A14D2538E33D}"/>
              </a:ext>
            </a:extLst>
          </p:cNvPr>
          <p:cNvSpPr/>
          <p:nvPr/>
        </p:nvSpPr>
        <p:spPr>
          <a:xfrm>
            <a:off x="8545374" y="194478"/>
            <a:ext cx="385445" cy="373380"/>
          </a:xfrm>
          <a:prstGeom prst="ellipse">
            <a:avLst/>
          </a:prstGeom>
          <a:solidFill>
            <a:srgbClr val="50288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</a:p>
        </p:txBody>
      </p:sp>
      <p:sp>
        <p:nvSpPr>
          <p:cNvPr id="47" name="圆角矩形 31">
            <a:extLst>
              <a:ext uri="{FF2B5EF4-FFF2-40B4-BE49-F238E27FC236}">
                <a16:creationId xmlns:a16="http://schemas.microsoft.com/office/drawing/2014/main" id="{98AE94EF-7A0A-2F9E-D561-FA2F0E285F4B}"/>
              </a:ext>
            </a:extLst>
          </p:cNvPr>
          <p:cNvSpPr/>
          <p:nvPr/>
        </p:nvSpPr>
        <p:spPr>
          <a:xfrm>
            <a:off x="7803855" y="2896834"/>
            <a:ext cx="1968736" cy="2761079"/>
          </a:xfrm>
          <a:prstGeom prst="roundRect">
            <a:avLst>
              <a:gd name="adj" fmla="val 7864"/>
            </a:avLst>
          </a:prstGeom>
          <a:solidFill>
            <a:srgbClr val="E6DDF8"/>
          </a:solidFill>
          <a:ln w="19050">
            <a:solidFill>
              <a:srgbClr val="8B6EC3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圆角矩形 32">
            <a:extLst>
              <a:ext uri="{FF2B5EF4-FFF2-40B4-BE49-F238E27FC236}">
                <a16:creationId xmlns:a16="http://schemas.microsoft.com/office/drawing/2014/main" id="{6718DA71-AEFA-E5EB-C545-B5029B859D56}"/>
              </a:ext>
            </a:extLst>
          </p:cNvPr>
          <p:cNvSpPr/>
          <p:nvPr/>
        </p:nvSpPr>
        <p:spPr>
          <a:xfrm>
            <a:off x="7862203" y="2962886"/>
            <a:ext cx="896620" cy="478790"/>
          </a:xfrm>
          <a:prstGeom prst="roundRect">
            <a:avLst/>
          </a:prstGeom>
          <a:solidFill>
            <a:srgbClr val="E3F4EA"/>
          </a:solidFill>
          <a:ln w="19050">
            <a:solidFill>
              <a:srgbClr val="579F7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/>
          </a:p>
        </p:txBody>
      </p:sp>
      <p:sp>
        <p:nvSpPr>
          <p:cNvPr id="49" name="圆角矩形 35">
            <a:extLst>
              <a:ext uri="{FF2B5EF4-FFF2-40B4-BE49-F238E27FC236}">
                <a16:creationId xmlns:a16="http://schemas.microsoft.com/office/drawing/2014/main" id="{CEE03D39-5E06-4DCD-40EC-740F0734775F}"/>
              </a:ext>
            </a:extLst>
          </p:cNvPr>
          <p:cNvSpPr/>
          <p:nvPr/>
        </p:nvSpPr>
        <p:spPr>
          <a:xfrm>
            <a:off x="8972586" y="3028600"/>
            <a:ext cx="772360" cy="261610"/>
          </a:xfrm>
          <a:prstGeom prst="roundRect">
            <a:avLst/>
          </a:prstGeom>
          <a:solidFill>
            <a:srgbClr val="E0F0EE"/>
          </a:solidFill>
          <a:ln w="19050">
            <a:solidFill>
              <a:srgbClr val="4A9A6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i="1">
                <a:solidFill>
                  <a:schemeClr val="tx1"/>
                </a:solidFill>
              </a:rPr>
              <a:t>State S1</a:t>
            </a:r>
          </a:p>
        </p:txBody>
      </p:sp>
      <p:sp>
        <p:nvSpPr>
          <p:cNvPr id="50" name="圆角矩形 36">
            <a:extLst>
              <a:ext uri="{FF2B5EF4-FFF2-40B4-BE49-F238E27FC236}">
                <a16:creationId xmlns:a16="http://schemas.microsoft.com/office/drawing/2014/main" id="{D3865465-5037-6B83-92B1-2C2EE6B27F07}"/>
              </a:ext>
            </a:extLst>
          </p:cNvPr>
          <p:cNvSpPr/>
          <p:nvPr/>
        </p:nvSpPr>
        <p:spPr>
          <a:xfrm>
            <a:off x="7861983" y="3836593"/>
            <a:ext cx="890905" cy="459431"/>
          </a:xfrm>
          <a:prstGeom prst="roundRect">
            <a:avLst/>
          </a:prstGeom>
          <a:solidFill>
            <a:srgbClr val="FDE9D9"/>
          </a:solidFill>
          <a:ln w="19050">
            <a:solidFill>
              <a:srgbClr val="E97C3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圆角矩形 37">
            <a:extLst>
              <a:ext uri="{FF2B5EF4-FFF2-40B4-BE49-F238E27FC236}">
                <a16:creationId xmlns:a16="http://schemas.microsoft.com/office/drawing/2014/main" id="{FA28D691-E0D7-2678-0EDB-71E0E1F229B5}"/>
              </a:ext>
            </a:extLst>
          </p:cNvPr>
          <p:cNvSpPr/>
          <p:nvPr/>
        </p:nvSpPr>
        <p:spPr>
          <a:xfrm>
            <a:off x="7849700" y="4741326"/>
            <a:ext cx="918844" cy="466070"/>
          </a:xfrm>
          <a:prstGeom prst="roundRect">
            <a:avLst/>
          </a:prstGeom>
          <a:solidFill>
            <a:srgbClr val="ECE5FD"/>
          </a:solidFill>
          <a:ln w="19050">
            <a:solidFill>
              <a:srgbClr val="8062C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圆角矩形 38">
            <a:extLst>
              <a:ext uri="{FF2B5EF4-FFF2-40B4-BE49-F238E27FC236}">
                <a16:creationId xmlns:a16="http://schemas.microsoft.com/office/drawing/2014/main" id="{D8D7AE0C-6638-8CC3-3D77-E894BA9B499A}"/>
              </a:ext>
            </a:extLst>
          </p:cNvPr>
          <p:cNvSpPr/>
          <p:nvPr/>
        </p:nvSpPr>
        <p:spPr>
          <a:xfrm>
            <a:off x="8990989" y="3878306"/>
            <a:ext cx="753302" cy="259639"/>
          </a:xfrm>
          <a:prstGeom prst="roundRect">
            <a:avLst/>
          </a:prstGeom>
          <a:solidFill>
            <a:srgbClr val="FDE9DA"/>
          </a:solidFill>
          <a:ln w="19050">
            <a:solidFill>
              <a:srgbClr val="ED652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b="1" i="1">
              <a:solidFill>
                <a:schemeClr val="tx1"/>
              </a:solidFill>
            </a:endParaRPr>
          </a:p>
        </p:txBody>
      </p:sp>
      <p:sp>
        <p:nvSpPr>
          <p:cNvPr id="53" name="圆角矩形 39">
            <a:extLst>
              <a:ext uri="{FF2B5EF4-FFF2-40B4-BE49-F238E27FC236}">
                <a16:creationId xmlns:a16="http://schemas.microsoft.com/office/drawing/2014/main" id="{C0B67DFD-B3DD-0B05-6FD9-22636FF11702}"/>
              </a:ext>
            </a:extLst>
          </p:cNvPr>
          <p:cNvSpPr/>
          <p:nvPr/>
        </p:nvSpPr>
        <p:spPr>
          <a:xfrm>
            <a:off x="9012356" y="4851954"/>
            <a:ext cx="722363" cy="242446"/>
          </a:xfrm>
          <a:prstGeom prst="roundRect">
            <a:avLst/>
          </a:prstGeom>
          <a:solidFill>
            <a:srgbClr val="EEE6FD"/>
          </a:solidFill>
          <a:ln w="19050">
            <a:solidFill>
              <a:srgbClr val="9068D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右箭头 57">
            <a:extLst>
              <a:ext uri="{FF2B5EF4-FFF2-40B4-BE49-F238E27FC236}">
                <a16:creationId xmlns:a16="http://schemas.microsoft.com/office/drawing/2014/main" id="{37D05D09-BD41-5E96-F2CB-B6772BEE62DA}"/>
              </a:ext>
            </a:extLst>
          </p:cNvPr>
          <p:cNvSpPr/>
          <p:nvPr/>
        </p:nvSpPr>
        <p:spPr>
          <a:xfrm rot="5400000">
            <a:off x="8616921" y="2529411"/>
            <a:ext cx="371370" cy="153421"/>
          </a:xfrm>
          <a:prstGeom prst="rightArrow">
            <a:avLst/>
          </a:prstGeom>
          <a:solidFill>
            <a:srgbClr val="4E239B"/>
          </a:solidFill>
          <a:ln>
            <a:solidFill>
              <a:srgbClr val="471F8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F0DF99F-35E8-4644-2213-EDF0A14EA999}"/>
              </a:ext>
            </a:extLst>
          </p:cNvPr>
          <p:cNvSpPr txBox="1"/>
          <p:nvPr/>
        </p:nvSpPr>
        <p:spPr>
          <a:xfrm>
            <a:off x="7835742" y="568903"/>
            <a:ext cx="1889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Differential State</a:t>
            </a:r>
          </a:p>
          <a:p>
            <a:pPr algn="ctr"/>
            <a:r>
              <a:rPr lang="en-US" altLang="zh-CN" b="1"/>
              <a:t>Execution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2F774BA-22ED-017B-6CB8-667BA27ACB4A}"/>
              </a:ext>
            </a:extLst>
          </p:cNvPr>
          <p:cNvSpPr txBox="1"/>
          <p:nvPr/>
        </p:nvSpPr>
        <p:spPr>
          <a:xfrm>
            <a:off x="7840393" y="1200086"/>
            <a:ext cx="1824990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1200" i="1"/>
              <a:t>Execute each statement</a:t>
            </a:r>
          </a:p>
          <a:p>
            <a:pPr algn="ctr">
              <a:lnSpc>
                <a:spcPct val="110000"/>
              </a:lnSpc>
            </a:pPr>
            <a:r>
              <a:rPr lang="en-US" altLang="zh-CN" sz="1200" i="1"/>
              <a:t>from the same state S</a:t>
            </a:r>
          </a:p>
        </p:txBody>
      </p:sp>
      <p:sp>
        <p:nvSpPr>
          <p:cNvPr id="57" name="圆柱形 77">
            <a:extLst>
              <a:ext uri="{FF2B5EF4-FFF2-40B4-BE49-F238E27FC236}">
                <a16:creationId xmlns:a16="http://schemas.microsoft.com/office/drawing/2014/main" id="{A5D02B1B-A679-1811-EB7F-12621BF34D63}"/>
              </a:ext>
            </a:extLst>
          </p:cNvPr>
          <p:cNvSpPr/>
          <p:nvPr/>
        </p:nvSpPr>
        <p:spPr>
          <a:xfrm>
            <a:off x="8119614" y="1842660"/>
            <a:ext cx="381111" cy="281219"/>
          </a:xfrm>
          <a:prstGeom prst="can">
            <a:avLst>
              <a:gd name="adj" fmla="val 32818"/>
            </a:avLst>
          </a:prstGeom>
          <a:solidFill>
            <a:srgbClr val="E6DDF8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圆柱形 80">
            <a:extLst>
              <a:ext uri="{FF2B5EF4-FFF2-40B4-BE49-F238E27FC236}">
                <a16:creationId xmlns:a16="http://schemas.microsoft.com/office/drawing/2014/main" id="{961DC293-55D3-4EFE-4ED0-C575DA2BCC6A}"/>
              </a:ext>
            </a:extLst>
          </p:cNvPr>
          <p:cNvSpPr/>
          <p:nvPr/>
        </p:nvSpPr>
        <p:spPr>
          <a:xfrm>
            <a:off x="8119614" y="2005855"/>
            <a:ext cx="381111" cy="281219"/>
          </a:xfrm>
          <a:prstGeom prst="can">
            <a:avLst>
              <a:gd name="adj" fmla="val 35521"/>
            </a:avLst>
          </a:prstGeom>
          <a:solidFill>
            <a:srgbClr val="E6DDF8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圆柱形 81">
            <a:extLst>
              <a:ext uri="{FF2B5EF4-FFF2-40B4-BE49-F238E27FC236}">
                <a16:creationId xmlns:a16="http://schemas.microsoft.com/office/drawing/2014/main" id="{23B09199-E865-8762-CA5D-656B338F9F6F}"/>
              </a:ext>
            </a:extLst>
          </p:cNvPr>
          <p:cNvSpPr/>
          <p:nvPr/>
        </p:nvSpPr>
        <p:spPr>
          <a:xfrm>
            <a:off x="8119614" y="2168322"/>
            <a:ext cx="381111" cy="209557"/>
          </a:xfrm>
          <a:prstGeom prst="can">
            <a:avLst>
              <a:gd name="adj" fmla="val 43963"/>
            </a:avLst>
          </a:prstGeom>
          <a:solidFill>
            <a:srgbClr val="E6DDF8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CE6C28E-EB98-EE70-3FDC-03A9087DF9FC}"/>
              </a:ext>
            </a:extLst>
          </p:cNvPr>
          <p:cNvSpPr txBox="1"/>
          <p:nvPr/>
        </p:nvSpPr>
        <p:spPr>
          <a:xfrm>
            <a:off x="8590522" y="1779430"/>
            <a:ext cx="116141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b="1"/>
              <a:t>Pre-state S</a:t>
            </a:r>
          </a:p>
          <a:p>
            <a:pPr algn="ctr">
              <a:lnSpc>
                <a:spcPct val="120000"/>
              </a:lnSpc>
            </a:pPr>
            <a:r>
              <a:rPr lang="en-US" altLang="zh-CN" sz="1200" i="1"/>
              <a:t>(Snapshot)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C611563C-070E-503A-625B-265FA21DC50D}"/>
              </a:ext>
            </a:extLst>
          </p:cNvPr>
          <p:cNvSpPr txBox="1"/>
          <p:nvPr/>
        </p:nvSpPr>
        <p:spPr>
          <a:xfrm>
            <a:off x="7829067" y="2925268"/>
            <a:ext cx="960119" cy="505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100" b="1"/>
              <a:t>Execute </a:t>
            </a:r>
            <a:r>
              <a:rPr lang="en-US" altLang="zh-CN" sz="1100" b="1" i="1"/>
              <a:t>q</a:t>
            </a:r>
            <a:endParaRPr lang="en-US" altLang="zh-CN" sz="1100" b="1"/>
          </a:p>
          <a:p>
            <a:pPr algn="ctr">
              <a:lnSpc>
                <a:spcPct val="130000"/>
              </a:lnSpc>
            </a:pPr>
            <a:r>
              <a:rPr lang="en-US" altLang="zh-CN" sz="1050"/>
              <a:t>UPDATE t1 ...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337A737-8FFC-4E93-F7BA-A3D40F95D107}"/>
              </a:ext>
            </a:extLst>
          </p:cNvPr>
          <p:cNvSpPr txBox="1"/>
          <p:nvPr/>
        </p:nvSpPr>
        <p:spPr>
          <a:xfrm>
            <a:off x="8927882" y="3876223"/>
            <a:ext cx="861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>
                <a:solidFill>
                  <a:schemeClr val="accent2">
                    <a:lumMod val="75000"/>
                  </a:schemeClr>
                </a:solidFill>
                <a:sym typeface="+mn-ea"/>
              </a:rPr>
              <a:t>State S2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6764AA4-374D-E555-7560-9111E7A2C386}"/>
              </a:ext>
            </a:extLst>
          </p:cNvPr>
          <p:cNvSpPr txBox="1"/>
          <p:nvPr/>
        </p:nvSpPr>
        <p:spPr>
          <a:xfrm>
            <a:off x="7771177" y="3796599"/>
            <a:ext cx="1072515" cy="505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100" b="1"/>
              <a:t>Execute </a:t>
            </a:r>
            <a:r>
              <a:rPr lang="en-US" altLang="zh-CN" sz="1050" b="1" i="1">
                <a:solidFill>
                  <a:schemeClr val="accent2">
                    <a:lumMod val="75000"/>
                  </a:schemeClr>
                </a:solidFill>
              </a:rPr>
              <a:t>q_</a:t>
            </a:r>
            <a:r>
              <a:rPr lang="en-US" altLang="zh-CN" sz="900" b="1" i="1">
                <a:solidFill>
                  <a:schemeClr val="accent2">
                    <a:lumMod val="75000"/>
                  </a:schemeClr>
                </a:solidFill>
              </a:rPr>
              <a:t>over</a:t>
            </a:r>
            <a:endParaRPr lang="en-US" altLang="zh-CN" sz="1100" b="1"/>
          </a:p>
          <a:p>
            <a:pPr algn="ctr">
              <a:lnSpc>
                <a:spcPct val="130000"/>
              </a:lnSpc>
            </a:pPr>
            <a:r>
              <a:rPr lang="en-US" altLang="zh-CN" sz="1050"/>
              <a:t>UPDATE t1 ...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43C5FE1D-AE51-85B8-D8BB-252C90B84CCF}"/>
              </a:ext>
            </a:extLst>
          </p:cNvPr>
          <p:cNvSpPr txBox="1"/>
          <p:nvPr/>
        </p:nvSpPr>
        <p:spPr>
          <a:xfrm>
            <a:off x="8984856" y="4823443"/>
            <a:ext cx="8047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>
                <a:solidFill>
                  <a:srgbClr val="7030A0"/>
                </a:solidFill>
                <a:sym typeface="+mn-ea"/>
              </a:rPr>
              <a:t>State S3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4613B29A-77AD-08F4-09DB-A0605B540CB2}"/>
              </a:ext>
            </a:extLst>
          </p:cNvPr>
          <p:cNvSpPr txBox="1"/>
          <p:nvPr/>
        </p:nvSpPr>
        <p:spPr>
          <a:xfrm>
            <a:off x="7749053" y="4716567"/>
            <a:ext cx="1134110" cy="4152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100" b="1"/>
              <a:t>Execute </a:t>
            </a:r>
            <a:r>
              <a:rPr lang="en-US" altLang="zh-CN" sz="1050" b="1" i="1">
                <a:solidFill>
                  <a:srgbClr val="7030A0"/>
                </a:solidFill>
              </a:rPr>
              <a:t>q</a:t>
            </a:r>
            <a:r>
              <a:rPr lang="en-US" altLang="zh-CN" sz="900" b="1" i="1">
                <a:solidFill>
                  <a:srgbClr val="7030A0"/>
                </a:solidFill>
              </a:rPr>
              <a:t>_under</a:t>
            </a:r>
            <a:endParaRPr lang="en-US" altLang="zh-CN" sz="1100" b="1"/>
          </a:p>
          <a:p>
            <a:pPr algn="ctr">
              <a:lnSpc>
                <a:spcPct val="130000"/>
              </a:lnSpc>
            </a:pPr>
            <a:r>
              <a:rPr lang="en-US" altLang="zh-CN" sz="1050"/>
              <a:t>UPDATE t1 ...</a:t>
            </a:r>
          </a:p>
        </p:txBody>
      </p:sp>
      <p:sp>
        <p:nvSpPr>
          <p:cNvPr id="66" name="右箭头 89">
            <a:extLst>
              <a:ext uri="{FF2B5EF4-FFF2-40B4-BE49-F238E27FC236}">
                <a16:creationId xmlns:a16="http://schemas.microsoft.com/office/drawing/2014/main" id="{5D6F1B2C-9296-8112-9005-5DD8D9CF4220}"/>
              </a:ext>
            </a:extLst>
          </p:cNvPr>
          <p:cNvSpPr/>
          <p:nvPr/>
        </p:nvSpPr>
        <p:spPr>
          <a:xfrm flipV="1">
            <a:off x="8774276" y="3107349"/>
            <a:ext cx="176002" cy="116035"/>
          </a:xfrm>
          <a:prstGeom prst="rightArrow">
            <a:avLst>
              <a:gd name="adj1" fmla="val 11666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29AEDB27-55BA-CE6A-74DC-4EDA3BE89A2D}"/>
              </a:ext>
            </a:extLst>
          </p:cNvPr>
          <p:cNvGrpSpPr/>
          <p:nvPr/>
        </p:nvGrpSpPr>
        <p:grpSpPr>
          <a:xfrm>
            <a:off x="8033179" y="3499317"/>
            <a:ext cx="261977" cy="244399"/>
            <a:chOff x="6383916" y="7865889"/>
            <a:chExt cx="261977" cy="244399"/>
          </a:xfrm>
        </p:grpSpPr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F3CB4A2E-4A48-4136-0DE7-59EB5902CC79}"/>
                </a:ext>
              </a:extLst>
            </p:cNvPr>
            <p:cNvSpPr/>
            <p:nvPr/>
          </p:nvSpPr>
          <p:spPr>
            <a:xfrm>
              <a:off x="6383916" y="7884673"/>
              <a:ext cx="261977" cy="225615"/>
            </a:xfrm>
            <a:prstGeom prst="ellipse">
              <a:avLst/>
            </a:prstGeom>
            <a:noFill/>
            <a:ln w="12700" cmpd="sng">
              <a:solidFill>
                <a:srgbClr val="7F62C3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五角星 93">
              <a:extLst>
                <a:ext uri="{FF2B5EF4-FFF2-40B4-BE49-F238E27FC236}">
                  <a16:creationId xmlns:a16="http://schemas.microsoft.com/office/drawing/2014/main" id="{A569AFEF-12B6-1431-C3DB-06B468F6C795}"/>
                </a:ext>
              </a:extLst>
            </p:cNvPr>
            <p:cNvSpPr/>
            <p:nvPr/>
          </p:nvSpPr>
          <p:spPr>
            <a:xfrm>
              <a:off x="6553056" y="7865889"/>
              <a:ext cx="92837" cy="81074"/>
            </a:xfrm>
            <a:prstGeom prst="star5">
              <a:avLst>
                <a:gd name="adj" fmla="val 19686"/>
                <a:gd name="hf" fmla="val 105146"/>
                <a:gd name="vf" fmla="val 110557"/>
              </a:avLst>
            </a:prstGeom>
            <a:solidFill>
              <a:srgbClr val="7F62C3"/>
            </a:solidFill>
            <a:ln>
              <a:solidFill>
                <a:srgbClr val="7F62C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0" name="文本框 69">
            <a:extLst>
              <a:ext uri="{FF2B5EF4-FFF2-40B4-BE49-F238E27FC236}">
                <a16:creationId xmlns:a16="http://schemas.microsoft.com/office/drawing/2014/main" id="{DA332031-3839-2E86-2782-EC51B5F5C390}"/>
              </a:ext>
            </a:extLst>
          </p:cNvPr>
          <p:cNvSpPr txBox="1"/>
          <p:nvPr/>
        </p:nvSpPr>
        <p:spPr>
          <a:xfrm>
            <a:off x="8345206" y="3474104"/>
            <a:ext cx="1346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i="1"/>
              <a:t>Rollback</a:t>
            </a:r>
            <a:r>
              <a:rPr lang="en-US" altLang="zh-CN" sz="1100"/>
              <a:t> /</a:t>
            </a:r>
            <a:r>
              <a:rPr lang="en-US" altLang="zh-CN" sz="1100" i="1"/>
              <a:t> Restore S</a:t>
            </a:r>
          </a:p>
        </p:txBody>
      </p:sp>
      <p:sp>
        <p:nvSpPr>
          <p:cNvPr id="71" name="右箭头 89">
            <a:extLst>
              <a:ext uri="{FF2B5EF4-FFF2-40B4-BE49-F238E27FC236}">
                <a16:creationId xmlns:a16="http://schemas.microsoft.com/office/drawing/2014/main" id="{3FC4E220-F570-5887-2A63-DD3FC2A1340A}"/>
              </a:ext>
            </a:extLst>
          </p:cNvPr>
          <p:cNvSpPr/>
          <p:nvPr/>
        </p:nvSpPr>
        <p:spPr>
          <a:xfrm flipV="1">
            <a:off x="8783937" y="3988921"/>
            <a:ext cx="176002" cy="116035"/>
          </a:xfrm>
          <a:prstGeom prst="rightArrow">
            <a:avLst>
              <a:gd name="adj1" fmla="val 11666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4B80A88F-B75C-9BC0-3016-F62ACE568DEE}"/>
              </a:ext>
            </a:extLst>
          </p:cNvPr>
          <p:cNvGrpSpPr/>
          <p:nvPr/>
        </p:nvGrpSpPr>
        <p:grpSpPr>
          <a:xfrm>
            <a:off x="8057318" y="4406296"/>
            <a:ext cx="261977" cy="244399"/>
            <a:chOff x="6383916" y="7865889"/>
            <a:chExt cx="261977" cy="244399"/>
          </a:xfrm>
        </p:grpSpPr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AA7E6C3B-9F3D-717A-CA7E-3DA88FF12401}"/>
                </a:ext>
              </a:extLst>
            </p:cNvPr>
            <p:cNvSpPr/>
            <p:nvPr/>
          </p:nvSpPr>
          <p:spPr>
            <a:xfrm>
              <a:off x="6383916" y="7884673"/>
              <a:ext cx="261977" cy="225615"/>
            </a:xfrm>
            <a:prstGeom prst="ellipse">
              <a:avLst/>
            </a:prstGeom>
            <a:noFill/>
            <a:ln w="12700" cmpd="sng">
              <a:solidFill>
                <a:srgbClr val="7F62C3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五角星 93">
              <a:extLst>
                <a:ext uri="{FF2B5EF4-FFF2-40B4-BE49-F238E27FC236}">
                  <a16:creationId xmlns:a16="http://schemas.microsoft.com/office/drawing/2014/main" id="{78BAD4A8-BAD8-1D99-3530-5D10BD62DAD9}"/>
                </a:ext>
              </a:extLst>
            </p:cNvPr>
            <p:cNvSpPr/>
            <p:nvPr/>
          </p:nvSpPr>
          <p:spPr>
            <a:xfrm>
              <a:off x="6553056" y="7865889"/>
              <a:ext cx="92837" cy="81074"/>
            </a:xfrm>
            <a:prstGeom prst="star5">
              <a:avLst>
                <a:gd name="adj" fmla="val 19686"/>
                <a:gd name="hf" fmla="val 105146"/>
                <a:gd name="vf" fmla="val 110557"/>
              </a:avLst>
            </a:prstGeom>
            <a:solidFill>
              <a:srgbClr val="7F62C3"/>
            </a:solidFill>
            <a:ln>
              <a:solidFill>
                <a:srgbClr val="7F62C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03B69482-11A7-EA21-F32F-1AB25389059A}"/>
              </a:ext>
            </a:extLst>
          </p:cNvPr>
          <p:cNvSpPr txBox="1"/>
          <p:nvPr/>
        </p:nvSpPr>
        <p:spPr>
          <a:xfrm>
            <a:off x="8299486" y="4397686"/>
            <a:ext cx="1346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i="1"/>
              <a:t>Rollback</a:t>
            </a:r>
            <a:r>
              <a:rPr lang="en-US" altLang="zh-CN" sz="1100"/>
              <a:t> /</a:t>
            </a:r>
            <a:r>
              <a:rPr lang="en-US" altLang="zh-CN" sz="1100" i="1"/>
              <a:t> Restore S</a:t>
            </a:r>
          </a:p>
        </p:txBody>
      </p:sp>
      <p:sp>
        <p:nvSpPr>
          <p:cNvPr id="76" name="右箭头 89">
            <a:extLst>
              <a:ext uri="{FF2B5EF4-FFF2-40B4-BE49-F238E27FC236}">
                <a16:creationId xmlns:a16="http://schemas.microsoft.com/office/drawing/2014/main" id="{199AF6E7-99ED-38E3-525A-97FECE3E844E}"/>
              </a:ext>
            </a:extLst>
          </p:cNvPr>
          <p:cNvSpPr/>
          <p:nvPr/>
        </p:nvSpPr>
        <p:spPr>
          <a:xfrm flipV="1">
            <a:off x="8815050" y="4915160"/>
            <a:ext cx="176002" cy="116035"/>
          </a:xfrm>
          <a:prstGeom prst="rightArrow">
            <a:avLst>
              <a:gd name="adj1" fmla="val 11666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F4CE5FD5-FA10-A7DF-9E69-F0207A46F415}"/>
              </a:ext>
            </a:extLst>
          </p:cNvPr>
          <p:cNvGrpSpPr/>
          <p:nvPr/>
        </p:nvGrpSpPr>
        <p:grpSpPr>
          <a:xfrm>
            <a:off x="8097087" y="5285763"/>
            <a:ext cx="261977" cy="244399"/>
            <a:chOff x="6383916" y="7865889"/>
            <a:chExt cx="261977" cy="244399"/>
          </a:xfrm>
        </p:grpSpPr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A314ABF0-51A3-7F54-0D21-4DB815D2DE5E}"/>
                </a:ext>
              </a:extLst>
            </p:cNvPr>
            <p:cNvSpPr/>
            <p:nvPr/>
          </p:nvSpPr>
          <p:spPr>
            <a:xfrm>
              <a:off x="6383916" y="7884673"/>
              <a:ext cx="261977" cy="225615"/>
            </a:xfrm>
            <a:prstGeom prst="ellipse">
              <a:avLst/>
            </a:prstGeom>
            <a:noFill/>
            <a:ln w="12700" cmpd="sng">
              <a:solidFill>
                <a:srgbClr val="7F62C3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五角星 93">
              <a:extLst>
                <a:ext uri="{FF2B5EF4-FFF2-40B4-BE49-F238E27FC236}">
                  <a16:creationId xmlns:a16="http://schemas.microsoft.com/office/drawing/2014/main" id="{90DD35FB-425E-442C-FB9D-A67BA17FCFAE}"/>
                </a:ext>
              </a:extLst>
            </p:cNvPr>
            <p:cNvSpPr/>
            <p:nvPr/>
          </p:nvSpPr>
          <p:spPr>
            <a:xfrm>
              <a:off x="6553056" y="7865889"/>
              <a:ext cx="92837" cy="81074"/>
            </a:xfrm>
            <a:prstGeom prst="star5">
              <a:avLst>
                <a:gd name="adj" fmla="val 19686"/>
                <a:gd name="hf" fmla="val 105146"/>
                <a:gd name="vf" fmla="val 110557"/>
              </a:avLst>
            </a:prstGeom>
            <a:solidFill>
              <a:srgbClr val="7F62C3"/>
            </a:solidFill>
            <a:ln>
              <a:solidFill>
                <a:srgbClr val="7F62C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0" name="文本框 79">
            <a:extLst>
              <a:ext uri="{FF2B5EF4-FFF2-40B4-BE49-F238E27FC236}">
                <a16:creationId xmlns:a16="http://schemas.microsoft.com/office/drawing/2014/main" id="{D318E2D1-A143-B5E7-E0CF-B271C2EF15DC}"/>
              </a:ext>
            </a:extLst>
          </p:cNvPr>
          <p:cNvSpPr txBox="1"/>
          <p:nvPr/>
        </p:nvSpPr>
        <p:spPr>
          <a:xfrm>
            <a:off x="8339255" y="5277153"/>
            <a:ext cx="1346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i="1"/>
              <a:t>Rollback</a:t>
            </a:r>
            <a:r>
              <a:rPr lang="en-US" altLang="zh-CN" sz="1100"/>
              <a:t> /</a:t>
            </a:r>
            <a:r>
              <a:rPr lang="en-US" altLang="zh-CN" sz="1100" i="1"/>
              <a:t> Restore S</a:t>
            </a:r>
          </a:p>
        </p:txBody>
      </p:sp>
      <p:sp>
        <p:nvSpPr>
          <p:cNvPr id="81" name="右箭头 14">
            <a:extLst>
              <a:ext uri="{FF2B5EF4-FFF2-40B4-BE49-F238E27FC236}">
                <a16:creationId xmlns:a16="http://schemas.microsoft.com/office/drawing/2014/main" id="{0159BF9A-A69A-9288-5C76-32379C7C8316}"/>
              </a:ext>
            </a:extLst>
          </p:cNvPr>
          <p:cNvSpPr/>
          <p:nvPr/>
        </p:nvSpPr>
        <p:spPr>
          <a:xfrm>
            <a:off x="7357832" y="2358644"/>
            <a:ext cx="300990" cy="26479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右箭头 14">
            <a:extLst>
              <a:ext uri="{FF2B5EF4-FFF2-40B4-BE49-F238E27FC236}">
                <a16:creationId xmlns:a16="http://schemas.microsoft.com/office/drawing/2014/main" id="{EDCCC8D6-9168-F308-BDFC-0F445EE99A5D}"/>
              </a:ext>
            </a:extLst>
          </p:cNvPr>
          <p:cNvSpPr/>
          <p:nvPr/>
        </p:nvSpPr>
        <p:spPr>
          <a:xfrm>
            <a:off x="9923043" y="2358644"/>
            <a:ext cx="300990" cy="26479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圆角矩形 10">
            <a:extLst>
              <a:ext uri="{FF2B5EF4-FFF2-40B4-BE49-F238E27FC236}">
                <a16:creationId xmlns:a16="http://schemas.microsoft.com/office/drawing/2014/main" id="{03873190-1EAC-AC4B-68F6-7F3D7A2FD829}"/>
              </a:ext>
            </a:extLst>
          </p:cNvPr>
          <p:cNvSpPr/>
          <p:nvPr/>
        </p:nvSpPr>
        <p:spPr>
          <a:xfrm>
            <a:off x="10261657" y="439791"/>
            <a:ext cx="3597334" cy="2837263"/>
          </a:xfrm>
          <a:prstGeom prst="roundRect">
            <a:avLst>
              <a:gd name="adj" fmla="val 8636"/>
            </a:avLst>
          </a:prstGeom>
          <a:solidFill>
            <a:srgbClr val="E5F0FC"/>
          </a:solidFill>
          <a:ln w="28575">
            <a:solidFill>
              <a:srgbClr val="0360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7EBFEEE2-01E2-EB96-780A-32BAF7E70F2F}"/>
              </a:ext>
            </a:extLst>
          </p:cNvPr>
          <p:cNvSpPr/>
          <p:nvPr/>
        </p:nvSpPr>
        <p:spPr>
          <a:xfrm>
            <a:off x="11852734" y="194478"/>
            <a:ext cx="385445" cy="37338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/>
              <a:t>5</a:t>
            </a:r>
          </a:p>
        </p:txBody>
      </p:sp>
      <p:sp>
        <p:nvSpPr>
          <p:cNvPr id="87" name="圆角矩形 53">
            <a:extLst>
              <a:ext uri="{FF2B5EF4-FFF2-40B4-BE49-F238E27FC236}">
                <a16:creationId xmlns:a16="http://schemas.microsoft.com/office/drawing/2014/main" id="{CC2D8159-7111-E76C-900D-9B43AB0127D4}"/>
              </a:ext>
            </a:extLst>
          </p:cNvPr>
          <p:cNvSpPr/>
          <p:nvPr/>
        </p:nvSpPr>
        <p:spPr>
          <a:xfrm>
            <a:off x="10364841" y="1618741"/>
            <a:ext cx="1553845" cy="710491"/>
          </a:xfrm>
          <a:prstGeom prst="roundRect">
            <a:avLst>
              <a:gd name="adj" fmla="val 8135"/>
            </a:avLst>
          </a:prstGeom>
          <a:solidFill>
            <a:srgbClr val="DFEEFC"/>
          </a:solidFill>
          <a:ln w="19050">
            <a:solidFill>
              <a:srgbClr val="8EC8F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8" name="圆角矩形 54">
            <a:extLst>
              <a:ext uri="{FF2B5EF4-FFF2-40B4-BE49-F238E27FC236}">
                <a16:creationId xmlns:a16="http://schemas.microsoft.com/office/drawing/2014/main" id="{8ADEF1F4-CDED-B170-5266-01999F252EC2}"/>
              </a:ext>
            </a:extLst>
          </p:cNvPr>
          <p:cNvSpPr/>
          <p:nvPr/>
        </p:nvSpPr>
        <p:spPr>
          <a:xfrm>
            <a:off x="12154748" y="1613884"/>
            <a:ext cx="1553845" cy="719605"/>
          </a:xfrm>
          <a:prstGeom prst="roundRect">
            <a:avLst>
              <a:gd name="adj" fmla="val 5160"/>
            </a:avLst>
          </a:prstGeom>
          <a:solidFill>
            <a:srgbClr val="D3F1F4"/>
          </a:solidFill>
          <a:ln w="19050">
            <a:solidFill>
              <a:srgbClr val="5DBCC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1" name="文本框 103">
            <a:extLst>
              <a:ext uri="{FF2B5EF4-FFF2-40B4-BE49-F238E27FC236}">
                <a16:creationId xmlns:a16="http://schemas.microsoft.com/office/drawing/2014/main" id="{D41E0C37-A961-1E80-1872-78C2B0798D59}"/>
              </a:ext>
            </a:extLst>
          </p:cNvPr>
          <p:cNvSpPr txBox="1"/>
          <p:nvPr/>
        </p:nvSpPr>
        <p:spPr>
          <a:xfrm>
            <a:off x="10494090" y="527660"/>
            <a:ext cx="315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/>
              <a:t>State-Effect Extraction</a:t>
            </a:r>
          </a:p>
        </p:txBody>
      </p:sp>
      <p:sp>
        <p:nvSpPr>
          <p:cNvPr id="92" name="文本框 104">
            <a:extLst>
              <a:ext uri="{FF2B5EF4-FFF2-40B4-BE49-F238E27FC236}">
                <a16:creationId xmlns:a16="http://schemas.microsoft.com/office/drawing/2014/main" id="{5FE7760F-B32E-909C-5E02-45DEDF8338BB}"/>
              </a:ext>
            </a:extLst>
          </p:cNvPr>
          <p:cNvSpPr txBox="1"/>
          <p:nvPr/>
        </p:nvSpPr>
        <p:spPr>
          <a:xfrm>
            <a:off x="10297046" y="832322"/>
            <a:ext cx="3454971" cy="285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zh-CN" sz="1200" i="1"/>
              <a:t>Extract matched or changed rows as tokens</a:t>
            </a:r>
          </a:p>
        </p:txBody>
      </p:sp>
      <p:sp>
        <p:nvSpPr>
          <p:cNvPr id="93" name="文本框 105">
            <a:extLst>
              <a:ext uri="{FF2B5EF4-FFF2-40B4-BE49-F238E27FC236}">
                <a16:creationId xmlns:a16="http://schemas.microsoft.com/office/drawing/2014/main" id="{A3E91DC4-379C-E2A3-D96D-8733A38658F3}"/>
              </a:ext>
            </a:extLst>
          </p:cNvPr>
          <p:cNvSpPr txBox="1"/>
          <p:nvPr/>
        </p:nvSpPr>
        <p:spPr>
          <a:xfrm>
            <a:off x="10261657" y="1639222"/>
            <a:ext cx="18288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/>
              <a:t>Matched Rows</a:t>
            </a:r>
          </a:p>
        </p:txBody>
      </p:sp>
      <p:sp>
        <p:nvSpPr>
          <p:cNvPr id="94" name="文本框 106">
            <a:extLst>
              <a:ext uri="{FF2B5EF4-FFF2-40B4-BE49-F238E27FC236}">
                <a16:creationId xmlns:a16="http://schemas.microsoft.com/office/drawing/2014/main" id="{328A2438-49E6-E779-280C-50E12EAC7A4A}"/>
              </a:ext>
            </a:extLst>
          </p:cNvPr>
          <p:cNvSpPr txBox="1"/>
          <p:nvPr/>
        </p:nvSpPr>
        <p:spPr>
          <a:xfrm>
            <a:off x="10299437" y="1858423"/>
            <a:ext cx="1684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CN" sz="1000" i="1"/>
              <a:t>Derive target PK’s from </a:t>
            </a:r>
          </a:p>
          <a:p>
            <a:pPr algn="ctr">
              <a:lnSpc>
                <a:spcPct val="120000"/>
              </a:lnSpc>
            </a:pPr>
            <a:r>
              <a:rPr lang="en-US" altLang="zh-CN" sz="1000" i="1"/>
              <a:t>Statement structure</a:t>
            </a:r>
          </a:p>
        </p:txBody>
      </p:sp>
      <p:sp>
        <p:nvSpPr>
          <p:cNvPr id="101" name="文本框 113">
            <a:extLst>
              <a:ext uri="{FF2B5EF4-FFF2-40B4-BE49-F238E27FC236}">
                <a16:creationId xmlns:a16="http://schemas.microsoft.com/office/drawing/2014/main" id="{AF047A57-430D-C1F4-4393-7CB31D4926E8}"/>
              </a:ext>
            </a:extLst>
          </p:cNvPr>
          <p:cNvSpPr txBox="1"/>
          <p:nvPr/>
        </p:nvSpPr>
        <p:spPr>
          <a:xfrm>
            <a:off x="12017270" y="1615621"/>
            <a:ext cx="18288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/>
              <a:t>Changed Rows</a:t>
            </a:r>
          </a:p>
        </p:txBody>
      </p:sp>
      <p:sp>
        <p:nvSpPr>
          <p:cNvPr id="102" name="文本框 115">
            <a:extLst>
              <a:ext uri="{FF2B5EF4-FFF2-40B4-BE49-F238E27FC236}">
                <a16:creationId xmlns:a16="http://schemas.microsoft.com/office/drawing/2014/main" id="{C562524D-D6AC-4D6B-19A3-01C93C102F52}"/>
              </a:ext>
            </a:extLst>
          </p:cNvPr>
          <p:cNvSpPr txBox="1"/>
          <p:nvPr/>
        </p:nvSpPr>
        <p:spPr>
          <a:xfrm>
            <a:off x="12052830" y="1862758"/>
            <a:ext cx="179324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1000" i="1"/>
              <a:t>Compute before/after</a:t>
            </a:r>
          </a:p>
          <a:p>
            <a:pPr algn="ctr">
              <a:lnSpc>
                <a:spcPct val="130000"/>
              </a:lnSpc>
            </a:pPr>
            <a:r>
              <a:rPr lang="en-US" altLang="zh-CN" sz="1000" i="1"/>
              <a:t>and normalize by row hash</a:t>
            </a:r>
          </a:p>
        </p:txBody>
      </p:sp>
      <p:sp>
        <p:nvSpPr>
          <p:cNvPr id="111" name="文本框 107">
            <a:extLst>
              <a:ext uri="{FF2B5EF4-FFF2-40B4-BE49-F238E27FC236}">
                <a16:creationId xmlns:a16="http://schemas.microsoft.com/office/drawing/2014/main" id="{F65AC48B-A058-5579-BE01-22FCE78A71A5}"/>
              </a:ext>
            </a:extLst>
          </p:cNvPr>
          <p:cNvSpPr txBox="1"/>
          <p:nvPr/>
        </p:nvSpPr>
        <p:spPr>
          <a:xfrm>
            <a:off x="10460476" y="2573417"/>
            <a:ext cx="15567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100"/>
              <a:t>E(q) = { t1:2 }</a:t>
            </a:r>
          </a:p>
        </p:txBody>
      </p:sp>
      <p:sp>
        <p:nvSpPr>
          <p:cNvPr id="112" name="文本框 108">
            <a:extLst>
              <a:ext uri="{FF2B5EF4-FFF2-40B4-BE49-F238E27FC236}">
                <a16:creationId xmlns:a16="http://schemas.microsoft.com/office/drawing/2014/main" id="{2D3796B1-B874-3321-0605-9C1629628B09}"/>
              </a:ext>
            </a:extLst>
          </p:cNvPr>
          <p:cNvSpPr txBox="1"/>
          <p:nvPr/>
        </p:nvSpPr>
        <p:spPr>
          <a:xfrm>
            <a:off x="10460476" y="2802257"/>
            <a:ext cx="2128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100">
                <a:solidFill>
                  <a:schemeClr val="accent2">
                    <a:lumMod val="75000"/>
                  </a:schemeClr>
                </a:solidFill>
              </a:rPr>
              <a:t>E(q_over)</a:t>
            </a:r>
            <a:r>
              <a:rPr lang="en-US" altLang="zh-CN" sz="1100"/>
              <a:t> = { t1:1, t1:2}</a:t>
            </a:r>
          </a:p>
        </p:txBody>
      </p:sp>
      <p:sp>
        <p:nvSpPr>
          <p:cNvPr id="113" name="文本框 109">
            <a:extLst>
              <a:ext uri="{FF2B5EF4-FFF2-40B4-BE49-F238E27FC236}">
                <a16:creationId xmlns:a16="http://schemas.microsoft.com/office/drawing/2014/main" id="{440FEAD6-1EA2-640A-6E22-6EA7B012F31F}"/>
              </a:ext>
            </a:extLst>
          </p:cNvPr>
          <p:cNvSpPr txBox="1"/>
          <p:nvPr/>
        </p:nvSpPr>
        <p:spPr>
          <a:xfrm>
            <a:off x="12105758" y="2807514"/>
            <a:ext cx="13456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100">
                <a:solidFill>
                  <a:srgbClr val="7030A0"/>
                </a:solidFill>
              </a:rPr>
              <a:t>E(q_under)</a:t>
            </a:r>
            <a:r>
              <a:rPr lang="en-US" altLang="zh-CN" sz="1100"/>
              <a:t> = { t1:1 }</a:t>
            </a:r>
          </a:p>
        </p:txBody>
      </p:sp>
      <p:sp>
        <p:nvSpPr>
          <p:cNvPr id="114" name="圆角矩形 55">
            <a:extLst>
              <a:ext uri="{FF2B5EF4-FFF2-40B4-BE49-F238E27FC236}">
                <a16:creationId xmlns:a16="http://schemas.microsoft.com/office/drawing/2014/main" id="{7747AFB7-1FC5-8E77-141B-F4AD5A0A0271}"/>
              </a:ext>
            </a:extLst>
          </p:cNvPr>
          <p:cNvSpPr/>
          <p:nvPr/>
        </p:nvSpPr>
        <p:spPr>
          <a:xfrm>
            <a:off x="10371988" y="2554606"/>
            <a:ext cx="3212272" cy="576472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4400"/>
          </a:p>
        </p:txBody>
      </p:sp>
      <p:sp>
        <p:nvSpPr>
          <p:cNvPr id="115" name="圆角矩形 58">
            <a:extLst>
              <a:ext uri="{FF2B5EF4-FFF2-40B4-BE49-F238E27FC236}">
                <a16:creationId xmlns:a16="http://schemas.microsoft.com/office/drawing/2014/main" id="{D6488E99-3EA7-3F8E-3C1D-63D2A761F8E5}"/>
              </a:ext>
            </a:extLst>
          </p:cNvPr>
          <p:cNvSpPr/>
          <p:nvPr/>
        </p:nvSpPr>
        <p:spPr>
          <a:xfrm>
            <a:off x="10572091" y="1237745"/>
            <a:ext cx="842334" cy="201643"/>
          </a:xfrm>
          <a:prstGeom prst="roundRect">
            <a:avLst/>
          </a:prstGeom>
          <a:solidFill>
            <a:srgbClr val="287F3F"/>
          </a:solidFill>
          <a:ln>
            <a:solidFill>
              <a:srgbClr val="287F4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/>
              <a:t>UPDATE</a:t>
            </a:r>
          </a:p>
        </p:txBody>
      </p:sp>
      <p:sp>
        <p:nvSpPr>
          <p:cNvPr id="116" name="圆角矩形 58">
            <a:extLst>
              <a:ext uri="{FF2B5EF4-FFF2-40B4-BE49-F238E27FC236}">
                <a16:creationId xmlns:a16="http://schemas.microsoft.com/office/drawing/2014/main" id="{36CA7222-29D0-F7A6-3CD9-AAFC24BBFA8C}"/>
              </a:ext>
            </a:extLst>
          </p:cNvPr>
          <p:cNvSpPr/>
          <p:nvPr/>
        </p:nvSpPr>
        <p:spPr>
          <a:xfrm>
            <a:off x="12154748" y="1229432"/>
            <a:ext cx="753491" cy="208371"/>
          </a:xfrm>
          <a:prstGeom prst="roundRect">
            <a:avLst/>
          </a:prstGeom>
          <a:solidFill>
            <a:srgbClr val="287F3F"/>
          </a:solidFill>
          <a:ln>
            <a:solidFill>
              <a:srgbClr val="287F4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/>
              <a:t>DELETE</a:t>
            </a:r>
          </a:p>
        </p:txBody>
      </p:sp>
      <p:sp>
        <p:nvSpPr>
          <p:cNvPr id="117" name="圆角矩形 58">
            <a:extLst>
              <a:ext uri="{FF2B5EF4-FFF2-40B4-BE49-F238E27FC236}">
                <a16:creationId xmlns:a16="http://schemas.microsoft.com/office/drawing/2014/main" id="{49B1333C-FDE6-D66D-1676-5DC6F616E00D}"/>
              </a:ext>
            </a:extLst>
          </p:cNvPr>
          <p:cNvSpPr/>
          <p:nvPr/>
        </p:nvSpPr>
        <p:spPr>
          <a:xfrm>
            <a:off x="12941765" y="1229432"/>
            <a:ext cx="766828" cy="206880"/>
          </a:xfrm>
          <a:prstGeom prst="roundRect">
            <a:avLst/>
          </a:prstGeom>
          <a:solidFill>
            <a:srgbClr val="287F3F"/>
          </a:solidFill>
          <a:ln>
            <a:solidFill>
              <a:srgbClr val="287F4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/>
              <a:t>INSERT</a:t>
            </a:r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05B5A613-2E31-CB3F-0CA2-D23AF9CA48E3}"/>
              </a:ext>
            </a:extLst>
          </p:cNvPr>
          <p:cNvSpPr/>
          <p:nvPr/>
        </p:nvSpPr>
        <p:spPr>
          <a:xfrm>
            <a:off x="11911983" y="3456556"/>
            <a:ext cx="387550" cy="373380"/>
          </a:xfrm>
          <a:prstGeom prst="ellipse">
            <a:avLst/>
          </a:prstGeom>
          <a:solidFill>
            <a:srgbClr val="CD1B3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/>
              <a:t>6</a:t>
            </a:r>
          </a:p>
        </p:txBody>
      </p:sp>
      <p:sp>
        <p:nvSpPr>
          <p:cNvPr id="120" name="圆角矩形 47">
            <a:extLst>
              <a:ext uri="{FF2B5EF4-FFF2-40B4-BE49-F238E27FC236}">
                <a16:creationId xmlns:a16="http://schemas.microsoft.com/office/drawing/2014/main" id="{E2D4504E-E64D-903D-3E25-191AF04106C1}"/>
              </a:ext>
            </a:extLst>
          </p:cNvPr>
          <p:cNvSpPr/>
          <p:nvPr/>
        </p:nvSpPr>
        <p:spPr>
          <a:xfrm>
            <a:off x="12760706" y="5206860"/>
            <a:ext cx="968420" cy="672590"/>
          </a:xfrm>
          <a:prstGeom prst="roundRect">
            <a:avLst/>
          </a:prstGeom>
          <a:solidFill>
            <a:srgbClr val="FCC9CA"/>
          </a:solidFill>
          <a:ln>
            <a:solidFill>
              <a:srgbClr val="E25B6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rgbClr val="FF0000"/>
                </a:solidFill>
              </a:rPr>
              <a:t>     Failed</a:t>
            </a:r>
          </a:p>
          <a:p>
            <a:pPr algn="ctr"/>
            <a:r>
              <a:rPr lang="en-US" altLang="zh-CN" sz="1200">
                <a:solidFill>
                  <a:schemeClr val="tx1"/>
                </a:solidFill>
              </a:rPr>
              <a:t>Logical Bug Detected</a:t>
            </a:r>
          </a:p>
        </p:txBody>
      </p:sp>
      <p:sp>
        <p:nvSpPr>
          <p:cNvPr id="121" name="圆角矩形 51">
            <a:extLst>
              <a:ext uri="{FF2B5EF4-FFF2-40B4-BE49-F238E27FC236}">
                <a16:creationId xmlns:a16="http://schemas.microsoft.com/office/drawing/2014/main" id="{D3F8A3E5-9104-A105-26DD-31CB6C69BCFE}"/>
              </a:ext>
            </a:extLst>
          </p:cNvPr>
          <p:cNvSpPr/>
          <p:nvPr/>
        </p:nvSpPr>
        <p:spPr>
          <a:xfrm>
            <a:off x="10360606" y="4522710"/>
            <a:ext cx="1983891" cy="610570"/>
          </a:xfrm>
          <a:prstGeom prst="roundRect">
            <a:avLst/>
          </a:prstGeom>
          <a:solidFill>
            <a:srgbClr val="FDFAF4"/>
          </a:solidFill>
          <a:ln w="19050">
            <a:solidFill>
              <a:srgbClr val="CE5D3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圆角矩形 52">
            <a:extLst>
              <a:ext uri="{FF2B5EF4-FFF2-40B4-BE49-F238E27FC236}">
                <a16:creationId xmlns:a16="http://schemas.microsoft.com/office/drawing/2014/main" id="{F81A178B-987A-610E-C122-B0BA4DAEAAEE}"/>
              </a:ext>
            </a:extLst>
          </p:cNvPr>
          <p:cNvSpPr/>
          <p:nvPr/>
        </p:nvSpPr>
        <p:spPr>
          <a:xfrm>
            <a:off x="10360606" y="5257757"/>
            <a:ext cx="1983891" cy="567231"/>
          </a:xfrm>
          <a:prstGeom prst="roundRect">
            <a:avLst/>
          </a:prstGeom>
          <a:solidFill>
            <a:srgbClr val="FDF6F9"/>
          </a:solidFill>
          <a:ln w="19050">
            <a:solidFill>
              <a:srgbClr val="A8539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5CF5B283-C380-4B3C-5CA0-D8D8C76673EF}"/>
              </a:ext>
            </a:extLst>
          </p:cNvPr>
          <p:cNvSpPr txBox="1"/>
          <p:nvPr/>
        </p:nvSpPr>
        <p:spPr>
          <a:xfrm>
            <a:off x="11925833" y="4754486"/>
            <a:ext cx="41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rgbClr val="00B050"/>
                </a:solidFill>
                <a:latin typeface="Segoe UI Emoji" panose="020B0502040204020203" charset="0"/>
                <a:ea typeface="微软雅黑" panose="020B0503020204020204" charset="-122"/>
                <a:sym typeface="+mn-ea"/>
              </a:rPr>
              <a:t>✔</a:t>
            </a:r>
            <a:endParaRPr lang="zh-CN" altLang="en-US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02EFA165-0AD5-C054-1BE9-18D07C2D94D5}"/>
              </a:ext>
            </a:extLst>
          </p:cNvPr>
          <p:cNvSpPr txBox="1"/>
          <p:nvPr/>
        </p:nvSpPr>
        <p:spPr>
          <a:xfrm>
            <a:off x="11966117" y="5513641"/>
            <a:ext cx="4114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rgbClr val="FF0000"/>
                </a:solidFill>
                <a:latin typeface="Segoe UI Emoji" panose="020B0502040204020203" charset="0"/>
              </a:rPr>
              <a:t>❌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321A8110-69D9-8EB7-5C87-8E4FED57FF6E}"/>
              </a:ext>
            </a:extLst>
          </p:cNvPr>
          <p:cNvSpPr txBox="1"/>
          <p:nvPr/>
        </p:nvSpPr>
        <p:spPr>
          <a:xfrm>
            <a:off x="10501105" y="4533568"/>
            <a:ext cx="1635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i="1"/>
              <a:t>Over-approximation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FA09C963-670B-100E-B1E1-D008FCCC9481}"/>
              </a:ext>
            </a:extLst>
          </p:cNvPr>
          <p:cNvSpPr txBox="1"/>
          <p:nvPr/>
        </p:nvSpPr>
        <p:spPr>
          <a:xfrm>
            <a:off x="10551447" y="5244403"/>
            <a:ext cx="1635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i="1"/>
              <a:t>Under-approximation</a:t>
            </a:r>
          </a:p>
        </p:txBody>
      </p:sp>
      <p:sp>
        <p:nvSpPr>
          <p:cNvPr id="129" name="圆角矩形 47">
            <a:extLst>
              <a:ext uri="{FF2B5EF4-FFF2-40B4-BE49-F238E27FC236}">
                <a16:creationId xmlns:a16="http://schemas.microsoft.com/office/drawing/2014/main" id="{BD911F31-FF55-89DE-54ED-A7E265859121}"/>
              </a:ext>
            </a:extLst>
          </p:cNvPr>
          <p:cNvSpPr/>
          <p:nvPr/>
        </p:nvSpPr>
        <p:spPr>
          <a:xfrm>
            <a:off x="12760706" y="4324579"/>
            <a:ext cx="968420" cy="68741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     PASS</a:t>
            </a:r>
          </a:p>
          <a:p>
            <a:pPr algn="ctr"/>
            <a:r>
              <a:rPr lang="en-US" altLang="zh-CN" sz="1200">
                <a:solidFill>
                  <a:schemeClr val="tx1"/>
                </a:solidFill>
              </a:rPr>
              <a:t>Relation Holds</a:t>
            </a:r>
          </a:p>
        </p:txBody>
      </p: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B7693246-172A-AF80-D0C0-E9BAE3D58E2D}"/>
              </a:ext>
            </a:extLst>
          </p:cNvPr>
          <p:cNvGrpSpPr/>
          <p:nvPr/>
        </p:nvGrpSpPr>
        <p:grpSpPr>
          <a:xfrm rot="16200000">
            <a:off x="11865992" y="4936604"/>
            <a:ext cx="1357465" cy="275595"/>
            <a:chOff x="10665166" y="6211343"/>
            <a:chExt cx="1357465" cy="275595"/>
          </a:xfrm>
        </p:grpSpPr>
        <p:sp>
          <p:nvSpPr>
            <p:cNvPr id="128" name="右中括号 127">
              <a:extLst>
                <a:ext uri="{FF2B5EF4-FFF2-40B4-BE49-F238E27FC236}">
                  <a16:creationId xmlns:a16="http://schemas.microsoft.com/office/drawing/2014/main" id="{4A995D9F-1A9A-3FCE-6F34-3E529A7EFABD}"/>
                </a:ext>
              </a:extLst>
            </p:cNvPr>
            <p:cNvSpPr/>
            <p:nvPr/>
          </p:nvSpPr>
          <p:spPr>
            <a:xfrm rot="16200000">
              <a:off x="11281370" y="5745676"/>
              <a:ext cx="125058" cy="1357465"/>
            </a:xfrm>
            <a:prstGeom prst="righ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B861C400-5D74-4C87-2497-01AF5DCC7628}"/>
                </a:ext>
              </a:extLst>
            </p:cNvPr>
            <p:cNvCxnSpPr>
              <a:endCxn id="128" idx="2"/>
            </p:cNvCxnSpPr>
            <p:nvPr/>
          </p:nvCxnSpPr>
          <p:spPr>
            <a:xfrm>
              <a:off x="11343900" y="6211343"/>
              <a:ext cx="0" cy="1505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1" name="图片 130">
            <a:extLst>
              <a:ext uri="{FF2B5EF4-FFF2-40B4-BE49-F238E27FC236}">
                <a16:creationId xmlns:a16="http://schemas.microsoft.com/office/drawing/2014/main" id="{7AA7CC87-3C41-1FBD-364C-318F601D3C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0999" y="4356204"/>
            <a:ext cx="237607" cy="237607"/>
          </a:xfrm>
          <a:prstGeom prst="rect">
            <a:avLst/>
          </a:prstGeom>
        </p:spPr>
      </p:pic>
      <p:pic>
        <p:nvPicPr>
          <p:cNvPr id="132" name="图片 131">
            <a:extLst>
              <a:ext uri="{FF2B5EF4-FFF2-40B4-BE49-F238E27FC236}">
                <a16:creationId xmlns:a16="http://schemas.microsoft.com/office/drawing/2014/main" id="{00A68179-7CB4-DA8F-54E6-6687250B044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832784" y="5229379"/>
            <a:ext cx="254992" cy="254992"/>
          </a:xfrm>
          <a:prstGeom prst="rect">
            <a:avLst/>
          </a:prstGeom>
        </p:spPr>
      </p:pic>
      <p:sp>
        <p:nvSpPr>
          <p:cNvPr id="134" name="文本框 133">
            <a:extLst>
              <a:ext uri="{FF2B5EF4-FFF2-40B4-BE49-F238E27FC236}">
                <a16:creationId xmlns:a16="http://schemas.microsoft.com/office/drawing/2014/main" id="{38EEA36F-3D8D-CA17-282F-90C37F0720C6}"/>
              </a:ext>
            </a:extLst>
          </p:cNvPr>
          <p:cNvSpPr txBox="1"/>
          <p:nvPr/>
        </p:nvSpPr>
        <p:spPr>
          <a:xfrm>
            <a:off x="10056836" y="3770239"/>
            <a:ext cx="3935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Inclusion Relation Checking</a:t>
            </a: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E6F49BEF-D229-C5EA-13FB-038C7D11B57F}"/>
              </a:ext>
            </a:extLst>
          </p:cNvPr>
          <p:cNvSpPr txBox="1"/>
          <p:nvPr/>
        </p:nvSpPr>
        <p:spPr>
          <a:xfrm>
            <a:off x="10366979" y="4068918"/>
            <a:ext cx="3441946" cy="285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1200" i="1"/>
              <a:t>Verify expected subset/superset relations</a:t>
            </a: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AB1A5F04-7B61-C24C-3A70-08DEAFA925D1}"/>
              </a:ext>
            </a:extLst>
          </p:cNvPr>
          <p:cNvSpPr txBox="1"/>
          <p:nvPr/>
        </p:nvSpPr>
        <p:spPr>
          <a:xfrm>
            <a:off x="10084259" y="4795064"/>
            <a:ext cx="2153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E(q) ⊆ E(q_over) </a:t>
            </a:r>
            <a:r>
              <a:rPr lang="en-US" altLang="zh-CN" sz="1100" b="1" i="1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?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983932F7-5985-0D4C-F2CF-31D1FD7F22FB}"/>
              </a:ext>
            </a:extLst>
          </p:cNvPr>
          <p:cNvSpPr txBox="1"/>
          <p:nvPr/>
        </p:nvSpPr>
        <p:spPr>
          <a:xfrm>
            <a:off x="10073538" y="5520943"/>
            <a:ext cx="2153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E(q_under) ⊆ E(q) </a:t>
            </a:r>
            <a:r>
              <a:rPr lang="en-US" altLang="zh-CN" sz="1200" b="1" i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?</a:t>
            </a:r>
            <a:endParaRPr lang="en-US" altLang="zh-CN" sz="1200" b="1" i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右箭头 14">
            <a:extLst>
              <a:ext uri="{FF2B5EF4-FFF2-40B4-BE49-F238E27FC236}">
                <a16:creationId xmlns:a16="http://schemas.microsoft.com/office/drawing/2014/main" id="{5AD102AE-DC3B-C247-693C-24D218BE4C14}"/>
              </a:ext>
            </a:extLst>
          </p:cNvPr>
          <p:cNvSpPr/>
          <p:nvPr/>
        </p:nvSpPr>
        <p:spPr>
          <a:xfrm rot="5400000">
            <a:off x="11374066" y="3362488"/>
            <a:ext cx="300990" cy="26479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圆角矩形 58">
            <a:extLst>
              <a:ext uri="{FF2B5EF4-FFF2-40B4-BE49-F238E27FC236}">
                <a16:creationId xmlns:a16="http://schemas.microsoft.com/office/drawing/2014/main" id="{C05BAFB9-80C8-74C4-6D1B-FF387FA759C4}"/>
              </a:ext>
            </a:extLst>
          </p:cNvPr>
          <p:cNvSpPr/>
          <p:nvPr/>
        </p:nvSpPr>
        <p:spPr>
          <a:xfrm>
            <a:off x="3302660" y="4326848"/>
            <a:ext cx="842334" cy="201643"/>
          </a:xfrm>
          <a:prstGeom prst="roundRect">
            <a:avLst/>
          </a:prstGeom>
          <a:solidFill>
            <a:srgbClr val="287F3F"/>
          </a:solidFill>
          <a:ln>
            <a:solidFill>
              <a:srgbClr val="287F4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/>
              <a:t>UPDATE</a:t>
            </a:r>
          </a:p>
        </p:txBody>
      </p:sp>
      <p:sp>
        <p:nvSpPr>
          <p:cNvPr id="141" name="右箭头 57">
            <a:extLst>
              <a:ext uri="{FF2B5EF4-FFF2-40B4-BE49-F238E27FC236}">
                <a16:creationId xmlns:a16="http://schemas.microsoft.com/office/drawing/2014/main" id="{3259BF49-4B8C-3CF9-95A4-ACE67ED365B6}"/>
              </a:ext>
            </a:extLst>
          </p:cNvPr>
          <p:cNvSpPr/>
          <p:nvPr/>
        </p:nvSpPr>
        <p:spPr>
          <a:xfrm rot="5400000">
            <a:off x="3551432" y="3549064"/>
            <a:ext cx="289076" cy="13915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3" name="图片 142">
            <a:extLst>
              <a:ext uri="{FF2B5EF4-FFF2-40B4-BE49-F238E27FC236}">
                <a16:creationId xmlns:a16="http://schemas.microsoft.com/office/drawing/2014/main" id="{F5908247-4EAB-41EF-E19D-71580DCEEBD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77" y="1879276"/>
            <a:ext cx="462050" cy="462050"/>
          </a:xfrm>
          <a:prstGeom prst="rect">
            <a:avLst/>
          </a:prstGeom>
        </p:spPr>
      </p:pic>
      <p:sp>
        <p:nvSpPr>
          <p:cNvPr id="144" name="文本框 143">
            <a:extLst>
              <a:ext uri="{FF2B5EF4-FFF2-40B4-BE49-F238E27FC236}">
                <a16:creationId xmlns:a16="http://schemas.microsoft.com/office/drawing/2014/main" id="{A3CD31BF-5966-C659-7472-0A1B87A27E71}"/>
              </a:ext>
            </a:extLst>
          </p:cNvPr>
          <p:cNvSpPr txBox="1"/>
          <p:nvPr/>
        </p:nvSpPr>
        <p:spPr>
          <a:xfrm>
            <a:off x="781383" y="1930723"/>
            <a:ext cx="1290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Schema &amp; DDL</a:t>
            </a:r>
            <a:endParaRPr lang="zh-CN" altLang="en-US" sz="1400" b="1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661DCA8A-9A26-7A48-6CE6-9BED0AD428DE}"/>
              </a:ext>
            </a:extLst>
          </p:cNvPr>
          <p:cNvSpPr/>
          <p:nvPr/>
        </p:nvSpPr>
        <p:spPr>
          <a:xfrm>
            <a:off x="467722" y="2458992"/>
            <a:ext cx="1579261" cy="4317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55F956A7-9716-CD45-8069-F2DA866DE589}"/>
              </a:ext>
            </a:extLst>
          </p:cNvPr>
          <p:cNvSpPr txBox="1"/>
          <p:nvPr/>
        </p:nvSpPr>
        <p:spPr>
          <a:xfrm>
            <a:off x="541061" y="2453477"/>
            <a:ext cx="1346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i="1"/>
              <a:t>t1(c1 PK, c2)</a:t>
            </a:r>
          </a:p>
          <a:p>
            <a:r>
              <a:rPr lang="en-US" altLang="zh-CN" sz="1100" i="1"/>
              <a:t>t2(c1 PK, c2 FK -&gt;t1)</a:t>
            </a:r>
          </a:p>
        </p:txBody>
      </p:sp>
      <p:cxnSp>
        <p:nvCxnSpPr>
          <p:cNvPr id="149" name="曲线连接符 134">
            <a:extLst>
              <a:ext uri="{FF2B5EF4-FFF2-40B4-BE49-F238E27FC236}">
                <a16:creationId xmlns:a16="http://schemas.microsoft.com/office/drawing/2014/main" id="{EAB0C774-4105-56C2-F382-861EE7FA92F1}"/>
              </a:ext>
            </a:extLst>
          </p:cNvPr>
          <p:cNvCxnSpPr>
            <a:cxnSpLocks/>
          </p:cNvCxnSpPr>
          <p:nvPr/>
        </p:nvCxnSpPr>
        <p:spPr>
          <a:xfrm rot="5400000">
            <a:off x="7802160" y="2358460"/>
            <a:ext cx="3390" cy="7404270"/>
          </a:xfrm>
          <a:prstGeom prst="curvedConnector3">
            <a:avLst>
              <a:gd name="adj1" fmla="val 6843363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0" name="文本框 149">
            <a:extLst>
              <a:ext uri="{FF2B5EF4-FFF2-40B4-BE49-F238E27FC236}">
                <a16:creationId xmlns:a16="http://schemas.microsoft.com/office/drawing/2014/main" id="{EFD3ABBA-C624-AA44-CC5E-BD275D2B45F3}"/>
              </a:ext>
            </a:extLst>
          </p:cNvPr>
          <p:cNvSpPr txBox="1"/>
          <p:nvPr/>
        </p:nvSpPr>
        <p:spPr>
          <a:xfrm>
            <a:off x="6365005" y="6369050"/>
            <a:ext cx="4355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Back to   </a:t>
            </a:r>
            <a:r>
              <a:rPr lang="en-US" altLang="zh-CN" b="1">
                <a:solidFill>
                  <a:schemeClr val="bg1"/>
                </a:solidFill>
              </a:rPr>
              <a:t>2</a:t>
            </a:r>
            <a:r>
              <a:rPr lang="en-US" altLang="zh-CN" b="1">
                <a:solidFill>
                  <a:srgbClr val="92D050"/>
                </a:solidFill>
              </a:rPr>
              <a:t>  </a:t>
            </a:r>
            <a:r>
              <a:rPr lang="en-US" altLang="zh-CN" b="1"/>
              <a:t> for next seed and iterate</a:t>
            </a:r>
          </a:p>
        </p:txBody>
      </p:sp>
      <p:sp>
        <p:nvSpPr>
          <p:cNvPr id="153" name="右箭头 57">
            <a:extLst>
              <a:ext uri="{FF2B5EF4-FFF2-40B4-BE49-F238E27FC236}">
                <a16:creationId xmlns:a16="http://schemas.microsoft.com/office/drawing/2014/main" id="{BB4CE068-2721-36FD-149E-C69739B14B92}"/>
              </a:ext>
            </a:extLst>
          </p:cNvPr>
          <p:cNvSpPr/>
          <p:nvPr/>
        </p:nvSpPr>
        <p:spPr>
          <a:xfrm rot="5400000">
            <a:off x="10994084" y="2372694"/>
            <a:ext cx="238007" cy="149664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右箭头 57">
            <a:extLst>
              <a:ext uri="{FF2B5EF4-FFF2-40B4-BE49-F238E27FC236}">
                <a16:creationId xmlns:a16="http://schemas.microsoft.com/office/drawing/2014/main" id="{06AF0AAF-74AF-CB7F-FE8A-62596E1BECC0}"/>
              </a:ext>
            </a:extLst>
          </p:cNvPr>
          <p:cNvSpPr/>
          <p:nvPr/>
        </p:nvSpPr>
        <p:spPr>
          <a:xfrm rot="5400000">
            <a:off x="1049299" y="3191049"/>
            <a:ext cx="287182" cy="133351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5968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6*84"/>
  <p:tag name="TABLE_ENDDRAG_RECT" val="51*170*76*8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4*26"/>
  <p:tag name="TABLE_ENDDRAG_RECT" val="17*170*34*26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142</TotalTime>
  <Words>309</Words>
  <Application>Microsoft Office PowerPoint</Application>
  <PresentationFormat>自定义</PresentationFormat>
  <Paragraphs>95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微软雅黑</vt:lpstr>
      <vt:lpstr>Arial</vt:lpstr>
      <vt:lpstr>Calibri</vt:lpstr>
      <vt:lpstr>Calibri Light</vt:lpstr>
      <vt:lpstr>Segoe UI Emoji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lin</dc:creator>
  <cp:lastModifiedBy>li lin</cp:lastModifiedBy>
  <cp:revision>19</cp:revision>
  <dcterms:created xsi:type="dcterms:W3CDTF">2023-08-09T12:44:00Z</dcterms:created>
  <dcterms:modified xsi:type="dcterms:W3CDTF">2026-04-02T05:14:52Z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